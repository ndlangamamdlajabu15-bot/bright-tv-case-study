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8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Jan</c:v>
                </c:pt>
              </c:strCache>
            </c:strRef>
          </c:tx>
          <c:spPr>
            <a:solidFill>
              <a:srgbClr val="0057FF"/>
            </a:solidFill>
            <a:effectLst/>
          </c:spPr>
          <c:invertIfNegative val="0"/>
          <c:cat>
            <c:strRef>
              <c:f>Sheet1!$A$2:$A$18</c:f>
              <c:strCache>
                <c:ptCount val="17"/>
                <c:pt idx="0">
                  <c:v>Africa Magic</c:v>
                </c:pt>
                <c:pt idx="1">
                  <c:v>Boomerang</c:v>
                </c:pt>
                <c:pt idx="2">
                  <c:v>Break in transmission</c:v>
                </c:pt>
                <c:pt idx="3">
                  <c:v>Cartoon Network</c:v>
                </c:pt>
                <c:pt idx="4">
                  <c:v>Channel O</c:v>
                </c:pt>
                <c:pt idx="5">
                  <c:v>CNN</c:v>
                </c:pt>
                <c:pt idx="6">
                  <c:v>DStv Events 1</c:v>
                </c:pt>
                <c:pt idx="7">
                  <c:v>E! Entertainment</c:v>
                </c:pt>
                <c:pt idx="8">
                  <c:v>ICC Cricket WC 2011</c:v>
                </c:pt>
                <c:pt idx="9">
                  <c:v>kykNET</c:v>
                </c:pt>
                <c:pt idx="10">
                  <c:v>MK</c:v>
                </c:pt>
                <c:pt idx="11">
                  <c:v>M-Net</c:v>
                </c:pt>
                <c:pt idx="12">
                  <c:v>SawSee</c:v>
                </c:pt>
                <c:pt idx="13">
                  <c:v>SuperSport Blitz</c:v>
                </c:pt>
                <c:pt idx="14">
                  <c:v>SuperSport Live</c:v>
                </c:pt>
                <c:pt idx="15">
                  <c:v>Trace TV</c:v>
                </c:pt>
                <c:pt idx="16">
                  <c:v>Vuzu</c:v>
                </c:pt>
              </c:strCache>
            </c:strRef>
          </c:cat>
          <c:val>
            <c:numRef>
              <c:f>Sheet1!$B$2:$B$18</c:f>
              <c:numCache>
                <c:formatCode>General</c:formatCode>
                <c:ptCount val="17"/>
                <c:pt idx="0">
                  <c:v>28</c:v>
                </c:pt>
                <c:pt idx="1">
                  <c:v>14</c:v>
                </c:pt>
                <c:pt idx="2">
                  <c:v>0</c:v>
                </c:pt>
                <c:pt idx="3">
                  <c:v>21</c:v>
                </c:pt>
                <c:pt idx="4">
                  <c:v>31</c:v>
                </c:pt>
                <c:pt idx="5">
                  <c:v>13</c:v>
                </c:pt>
                <c:pt idx="6">
                  <c:v>7</c:v>
                </c:pt>
                <c:pt idx="7">
                  <c:v>3</c:v>
                </c:pt>
                <c:pt idx="8">
                  <c:v>0</c:v>
                </c:pt>
                <c:pt idx="9">
                  <c:v>0</c:v>
                </c:pt>
                <c:pt idx="10">
                  <c:v>0</c:v>
                </c:pt>
                <c:pt idx="11">
                  <c:v>2</c:v>
                </c:pt>
                <c:pt idx="12">
                  <c:v>6</c:v>
                </c:pt>
                <c:pt idx="13">
                  <c:v>23</c:v>
                </c:pt>
                <c:pt idx="14">
                  <c:v>32</c:v>
                </c:pt>
                <c:pt idx="15">
                  <c:v>31</c:v>
                </c:pt>
                <c:pt idx="16">
                  <c:v>1</c:v>
                </c:pt>
              </c:numCache>
            </c:numRef>
          </c:val>
          <c:extLst>
            <c:ext xmlns:c16="http://schemas.microsoft.com/office/drawing/2014/chart" uri="{C3380CC4-5D6E-409C-BE32-E72D297353CC}">
              <c16:uniqueId val="{00000000-3E26-4604-AAEF-424CD87B173E}"/>
            </c:ext>
          </c:extLst>
        </c:ser>
        <c:ser>
          <c:idx val="1"/>
          <c:order val="1"/>
          <c:tx>
            <c:strRef>
              <c:f>Sheet1!$C$1</c:f>
              <c:strCache>
                <c:ptCount val="1"/>
                <c:pt idx="0">
                  <c:v>Feb</c:v>
                </c:pt>
              </c:strCache>
            </c:strRef>
          </c:tx>
          <c:spPr>
            <a:solidFill>
              <a:srgbClr val="F28C28"/>
            </a:solidFill>
            <a:effectLst/>
          </c:spPr>
          <c:invertIfNegative val="0"/>
          <c:cat>
            <c:strRef>
              <c:f>Sheet1!$A$2:$A$18</c:f>
              <c:strCache>
                <c:ptCount val="17"/>
                <c:pt idx="0">
                  <c:v>Africa Magic</c:v>
                </c:pt>
                <c:pt idx="1">
                  <c:v>Boomerang</c:v>
                </c:pt>
                <c:pt idx="2">
                  <c:v>Break in transmission</c:v>
                </c:pt>
                <c:pt idx="3">
                  <c:v>Cartoon Network</c:v>
                </c:pt>
                <c:pt idx="4">
                  <c:v>Channel O</c:v>
                </c:pt>
                <c:pt idx="5">
                  <c:v>CNN</c:v>
                </c:pt>
                <c:pt idx="6">
                  <c:v>DStv Events 1</c:v>
                </c:pt>
                <c:pt idx="7">
                  <c:v>E! Entertainment</c:v>
                </c:pt>
                <c:pt idx="8">
                  <c:v>ICC Cricket WC 2011</c:v>
                </c:pt>
                <c:pt idx="9">
                  <c:v>kykNET</c:v>
                </c:pt>
                <c:pt idx="10">
                  <c:v>MK</c:v>
                </c:pt>
                <c:pt idx="11">
                  <c:v>M-Net</c:v>
                </c:pt>
                <c:pt idx="12">
                  <c:v>SawSee</c:v>
                </c:pt>
                <c:pt idx="13">
                  <c:v>SuperSport Blitz</c:v>
                </c:pt>
                <c:pt idx="14">
                  <c:v>SuperSport Live</c:v>
                </c:pt>
                <c:pt idx="15">
                  <c:v>Trace TV</c:v>
                </c:pt>
                <c:pt idx="16">
                  <c:v>Vuzu</c:v>
                </c:pt>
              </c:strCache>
            </c:strRef>
          </c:cat>
          <c:val>
            <c:numRef>
              <c:f>Sheet1!$C$2:$C$18</c:f>
              <c:numCache>
                <c:formatCode>General</c:formatCode>
                <c:ptCount val="17"/>
                <c:pt idx="0">
                  <c:v>21</c:v>
                </c:pt>
                <c:pt idx="1">
                  <c:v>33</c:v>
                </c:pt>
                <c:pt idx="2">
                  <c:v>6</c:v>
                </c:pt>
                <c:pt idx="3">
                  <c:v>25</c:v>
                </c:pt>
                <c:pt idx="4">
                  <c:v>46</c:v>
                </c:pt>
                <c:pt idx="5">
                  <c:v>10</c:v>
                </c:pt>
                <c:pt idx="6">
                  <c:v>1</c:v>
                </c:pt>
                <c:pt idx="7">
                  <c:v>7</c:v>
                </c:pt>
                <c:pt idx="8">
                  <c:v>25</c:v>
                </c:pt>
                <c:pt idx="9">
                  <c:v>2</c:v>
                </c:pt>
                <c:pt idx="10">
                  <c:v>0</c:v>
                </c:pt>
                <c:pt idx="11">
                  <c:v>3</c:v>
                </c:pt>
                <c:pt idx="12">
                  <c:v>9</c:v>
                </c:pt>
                <c:pt idx="13">
                  <c:v>28</c:v>
                </c:pt>
                <c:pt idx="14">
                  <c:v>53</c:v>
                </c:pt>
                <c:pt idx="15">
                  <c:v>31</c:v>
                </c:pt>
                <c:pt idx="16">
                  <c:v>1</c:v>
                </c:pt>
              </c:numCache>
            </c:numRef>
          </c:val>
          <c:extLst>
            <c:ext xmlns:c16="http://schemas.microsoft.com/office/drawing/2014/chart" uri="{C3380CC4-5D6E-409C-BE32-E72D297353CC}">
              <c16:uniqueId val="{00000001-3E26-4604-AAEF-424CD87B173E}"/>
            </c:ext>
          </c:extLst>
        </c:ser>
        <c:ser>
          <c:idx val="2"/>
          <c:order val="2"/>
          <c:tx>
            <c:strRef>
              <c:f>Sheet1!$D$1</c:f>
              <c:strCache>
                <c:ptCount val="1"/>
                <c:pt idx="0">
                  <c:v>Mar</c:v>
                </c:pt>
              </c:strCache>
            </c:strRef>
          </c:tx>
          <c:spPr>
            <a:solidFill>
              <a:srgbClr val="22D3EE"/>
            </a:solidFill>
            <a:effectLst/>
          </c:spPr>
          <c:invertIfNegative val="0"/>
          <c:cat>
            <c:strRef>
              <c:f>Sheet1!$A$2:$A$18</c:f>
              <c:strCache>
                <c:ptCount val="17"/>
                <c:pt idx="0">
                  <c:v>Africa Magic</c:v>
                </c:pt>
                <c:pt idx="1">
                  <c:v>Boomerang</c:v>
                </c:pt>
                <c:pt idx="2">
                  <c:v>Break in transmission</c:v>
                </c:pt>
                <c:pt idx="3">
                  <c:v>Cartoon Network</c:v>
                </c:pt>
                <c:pt idx="4">
                  <c:v>Channel O</c:v>
                </c:pt>
                <c:pt idx="5">
                  <c:v>CNN</c:v>
                </c:pt>
                <c:pt idx="6">
                  <c:v>DStv Events 1</c:v>
                </c:pt>
                <c:pt idx="7">
                  <c:v>E! Entertainment</c:v>
                </c:pt>
                <c:pt idx="8">
                  <c:v>ICC Cricket WC 2011</c:v>
                </c:pt>
                <c:pt idx="9">
                  <c:v>kykNET</c:v>
                </c:pt>
                <c:pt idx="10">
                  <c:v>MK</c:v>
                </c:pt>
                <c:pt idx="11">
                  <c:v>M-Net</c:v>
                </c:pt>
                <c:pt idx="12">
                  <c:v>SawSee</c:v>
                </c:pt>
                <c:pt idx="13">
                  <c:v>SuperSport Blitz</c:v>
                </c:pt>
                <c:pt idx="14">
                  <c:v>SuperSport Live</c:v>
                </c:pt>
                <c:pt idx="15">
                  <c:v>Trace TV</c:v>
                </c:pt>
                <c:pt idx="16">
                  <c:v>Vuzu</c:v>
                </c:pt>
              </c:strCache>
            </c:strRef>
          </c:cat>
          <c:val>
            <c:numRef>
              <c:f>Sheet1!$D$2:$D$18</c:f>
              <c:numCache>
                <c:formatCode>General</c:formatCode>
                <c:ptCount val="17"/>
                <c:pt idx="0">
                  <c:v>37</c:v>
                </c:pt>
                <c:pt idx="1">
                  <c:v>43</c:v>
                </c:pt>
                <c:pt idx="2">
                  <c:v>1</c:v>
                </c:pt>
                <c:pt idx="3">
                  <c:v>30</c:v>
                </c:pt>
                <c:pt idx="4">
                  <c:v>50</c:v>
                </c:pt>
                <c:pt idx="5">
                  <c:v>18</c:v>
                </c:pt>
                <c:pt idx="6">
                  <c:v>2</c:v>
                </c:pt>
                <c:pt idx="7">
                  <c:v>13</c:v>
                </c:pt>
                <c:pt idx="8">
                  <c:v>97</c:v>
                </c:pt>
                <c:pt idx="9">
                  <c:v>3</c:v>
                </c:pt>
                <c:pt idx="10">
                  <c:v>3</c:v>
                </c:pt>
                <c:pt idx="11">
                  <c:v>7</c:v>
                </c:pt>
                <c:pt idx="12">
                  <c:v>9</c:v>
                </c:pt>
                <c:pt idx="13">
                  <c:v>43</c:v>
                </c:pt>
                <c:pt idx="14">
                  <c:v>69</c:v>
                </c:pt>
                <c:pt idx="15">
                  <c:v>53</c:v>
                </c:pt>
                <c:pt idx="16">
                  <c:v>9</c:v>
                </c:pt>
              </c:numCache>
            </c:numRef>
          </c:val>
          <c:extLst>
            <c:ext xmlns:c16="http://schemas.microsoft.com/office/drawing/2014/chart" uri="{C3380CC4-5D6E-409C-BE32-E72D297353CC}">
              <c16:uniqueId val="{00000002-3E26-4604-AAEF-424CD87B173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9AA6BF"/>
            </a:solidFill>
            <a:prstDash val="solid"/>
            <a:round/>
          </a:ln>
        </c:spPr>
        <c:txPr>
          <a:bodyPr/>
          <a:lstStyle/>
          <a:p>
            <a:pPr>
              <a:defRPr sz="800" b="0" i="0" u="none" strike="noStrike">
                <a:solidFill>
                  <a:srgbClr val="FFFFFF"/>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34366"/>
              </a:solidFill>
              <a:prstDash val="dash"/>
              <a:round/>
            </a:ln>
          </c:spPr>
        </c:majorGridlines>
        <c:numFmt formatCode="General" sourceLinked="0"/>
        <c:majorTickMark val="out"/>
        <c:minorTickMark val="none"/>
        <c:tickLblPos val="low"/>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FFFFF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Age</c:v>
                </c:pt>
              </c:strCache>
            </c:strRef>
          </c:tx>
          <c:spPr>
            <a:solidFill>
              <a:schemeClr val="accent1"/>
            </a:solidFill>
            <a:ln w="9525" cap="flat">
              <a:solidFill>
                <a:srgbClr val="F9F9F9"/>
              </a:solidFill>
              <a:prstDash val="solid"/>
              <a:round/>
            </a:ln>
            <a:effectLst/>
          </c:spPr>
          <c:dPt>
            <c:idx val="0"/>
            <c:bubble3D val="0"/>
            <c:spPr>
              <a:solidFill>
                <a:srgbClr val="F28C28"/>
              </a:solidFill>
              <a:effectLst/>
            </c:spPr>
            <c:extLst>
              <c:ext xmlns:c16="http://schemas.microsoft.com/office/drawing/2014/chart" uri="{C3380CC4-5D6E-409C-BE32-E72D297353CC}">
                <c16:uniqueId val="{00000001-4E7B-44EA-B843-38D0F3C9C90E}"/>
              </c:ext>
            </c:extLst>
          </c:dPt>
          <c:dPt>
            <c:idx val="1"/>
            <c:bubble3D val="0"/>
            <c:spPr>
              <a:solidFill>
                <a:srgbClr val="0057FF"/>
              </a:solidFill>
              <a:effectLst/>
            </c:spPr>
            <c:extLst>
              <c:ext xmlns:c16="http://schemas.microsoft.com/office/drawing/2014/chart" uri="{C3380CC4-5D6E-409C-BE32-E72D297353CC}">
                <c16:uniqueId val="{00000003-4E7B-44EA-B843-38D0F3C9C90E}"/>
              </c:ext>
            </c:extLst>
          </c:dPt>
          <c:dPt>
            <c:idx val="2"/>
            <c:bubble3D val="0"/>
            <c:spPr>
              <a:solidFill>
                <a:srgbClr val="22D3EE"/>
              </a:solidFill>
              <a:effectLst/>
            </c:spPr>
            <c:extLst>
              <c:ext xmlns:c16="http://schemas.microsoft.com/office/drawing/2014/chart" uri="{C3380CC4-5D6E-409C-BE32-E72D297353CC}">
                <c16:uniqueId val="{00000005-4E7B-44EA-B843-38D0F3C9C90E}"/>
              </c:ext>
            </c:extLst>
          </c:dPt>
          <c:dPt>
            <c:idx val="3"/>
            <c:bubble3D val="0"/>
            <c:spPr>
              <a:solidFill>
                <a:srgbClr val="A78BFA"/>
              </a:solidFill>
              <a:effectLst/>
            </c:spPr>
            <c:extLst>
              <c:ext xmlns:c16="http://schemas.microsoft.com/office/drawing/2014/chart" uri="{C3380CC4-5D6E-409C-BE32-E72D297353CC}">
                <c16:uniqueId val="{00000007-4E7B-44EA-B843-38D0F3C9C90E}"/>
              </c:ext>
            </c:extLst>
          </c:dPt>
          <c:dPt>
            <c:idx val="4"/>
            <c:bubble3D val="0"/>
            <c:spPr>
              <a:solidFill>
                <a:srgbClr val="F43F5E"/>
              </a:solidFill>
              <a:effectLst/>
            </c:spPr>
            <c:extLst>
              <c:ext xmlns:c16="http://schemas.microsoft.com/office/drawing/2014/chart" uri="{C3380CC4-5D6E-409C-BE32-E72D297353CC}">
                <c16:uniqueId val="{00000009-4E7B-44EA-B843-38D0F3C9C90E}"/>
              </c:ext>
            </c:extLst>
          </c:dPt>
          <c:dLbls>
            <c:dLbl>
              <c:idx val="0"/>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E7B-44EA-B843-38D0F3C9C90E}"/>
                </c:ext>
              </c:extLst>
            </c:dLbl>
            <c:dLbl>
              <c:idx val="1"/>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E7B-44EA-B843-38D0F3C9C90E}"/>
                </c:ext>
              </c:extLst>
            </c:dLbl>
            <c:dLbl>
              <c:idx val="2"/>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E7B-44EA-B843-38D0F3C9C90E}"/>
                </c:ext>
              </c:extLst>
            </c:dLbl>
            <c:dLbl>
              <c:idx val="3"/>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E7B-44EA-B843-38D0F3C9C90E}"/>
                </c:ext>
              </c:extLst>
            </c:dLbl>
            <c:dLbl>
              <c:idx val="4"/>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E7B-44EA-B843-38D0F3C9C90E}"/>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Youth</c:v>
                </c:pt>
                <c:pt idx="1">
                  <c:v>Adults</c:v>
                </c:pt>
                <c:pt idx="2">
                  <c:v>Teenagers</c:v>
                </c:pt>
                <c:pt idx="3">
                  <c:v>Kids</c:v>
                </c:pt>
                <c:pt idx="4">
                  <c:v>Pensioners</c:v>
                </c:pt>
              </c:strCache>
            </c:strRef>
          </c:cat>
          <c:val>
            <c:numRef>
              <c:f>Sheet1!$B$2:$B$6</c:f>
              <c:numCache>
                <c:formatCode>General</c:formatCode>
                <c:ptCount val="5"/>
                <c:pt idx="0">
                  <c:v>421</c:v>
                </c:pt>
                <c:pt idx="1">
                  <c:v>308</c:v>
                </c:pt>
                <c:pt idx="2">
                  <c:v>183</c:v>
                </c:pt>
                <c:pt idx="3">
                  <c:v>77</c:v>
                </c:pt>
                <c:pt idx="4">
                  <c:v>11</c:v>
                </c:pt>
              </c:numCache>
            </c:numRef>
          </c:val>
          <c:extLst>
            <c:ext xmlns:c16="http://schemas.microsoft.com/office/drawing/2014/chart" uri="{C3380CC4-5D6E-409C-BE32-E72D297353CC}">
              <c16:uniqueId val="{0000000A-4E7B-44EA-B843-38D0F3C9C90E}"/>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r"/>
      <c:overlay val="0"/>
      <c:txPr>
        <a:bodyPr/>
        <a:lstStyle/>
        <a:p>
          <a:pPr>
            <a:defRPr sz="1000">
              <a:solidFill>
                <a:srgbClr val="FFFFF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Youth</c:v>
                </c:pt>
              </c:strCache>
            </c:strRef>
          </c:tx>
          <c:spPr>
            <a:ln w="38100" cap="flat">
              <a:solidFill>
                <a:srgbClr val="0057FF"/>
              </a:solidFill>
              <a:prstDash val="solid"/>
              <a:round/>
            </a:ln>
            <a:effectLst/>
          </c:spPr>
          <c:marker>
            <c:symbol val="circle"/>
            <c:size val="8"/>
            <c:spPr>
              <a:solidFill>
                <a:srgbClr val="0057FF"/>
              </a:solidFill>
              <a:ln w="9525" cap="flat">
                <a:solidFill>
                  <a:srgbClr val="0057FF"/>
                </a:solidFill>
                <a:prstDash val="solid"/>
                <a:round/>
              </a:ln>
              <a:effectLst/>
            </c:spPr>
          </c:marker>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50</c:v>
                </c:pt>
                <c:pt idx="1">
                  <c:v>55</c:v>
                </c:pt>
                <c:pt idx="2">
                  <c:v>58</c:v>
                </c:pt>
                <c:pt idx="3">
                  <c:v>62</c:v>
                </c:pt>
                <c:pt idx="4">
                  <c:v>70</c:v>
                </c:pt>
                <c:pt idx="5">
                  <c:v>90</c:v>
                </c:pt>
                <c:pt idx="6">
                  <c:v>75</c:v>
                </c:pt>
              </c:numCache>
            </c:numRef>
          </c:val>
          <c:smooth val="0"/>
          <c:extLst>
            <c:ext xmlns:c16="http://schemas.microsoft.com/office/drawing/2014/chart" uri="{C3380CC4-5D6E-409C-BE32-E72D297353CC}">
              <c16:uniqueId val="{00000000-23CF-4031-86D4-3117708362D5}"/>
            </c:ext>
          </c:extLst>
        </c:ser>
        <c:ser>
          <c:idx val="1"/>
          <c:order val="1"/>
          <c:tx>
            <c:strRef>
              <c:f>Sheet1!$C$1</c:f>
              <c:strCache>
                <c:ptCount val="1"/>
                <c:pt idx="0">
                  <c:v>Adults</c:v>
                </c:pt>
              </c:strCache>
            </c:strRef>
          </c:tx>
          <c:spPr>
            <a:ln w="38100" cap="flat">
              <a:solidFill>
                <a:srgbClr val="F28C28"/>
              </a:solidFill>
              <a:prstDash val="solid"/>
              <a:round/>
            </a:ln>
            <a:effectLst/>
          </c:spPr>
          <c:marker>
            <c:symbol val="circle"/>
            <c:size val="8"/>
            <c:spPr>
              <a:solidFill>
                <a:srgbClr val="F28C28"/>
              </a:solidFill>
              <a:ln w="9525" cap="flat">
                <a:solidFill>
                  <a:srgbClr val="F28C28"/>
                </a:solidFill>
                <a:prstDash val="solid"/>
                <a:round/>
              </a:ln>
              <a:effectLst/>
            </c:spPr>
          </c:marker>
          <c:cat>
            <c:strRef>
              <c:f>Sheet1!$A$2:$A$8</c:f>
              <c:strCache>
                <c:ptCount val="7"/>
                <c:pt idx="0">
                  <c:v>Mon</c:v>
                </c:pt>
                <c:pt idx="1">
                  <c:v>Tue</c:v>
                </c:pt>
                <c:pt idx="2">
                  <c:v>Wed</c:v>
                </c:pt>
                <c:pt idx="3">
                  <c:v>Thu</c:v>
                </c:pt>
                <c:pt idx="4">
                  <c:v>Fri</c:v>
                </c:pt>
                <c:pt idx="5">
                  <c:v>Sat</c:v>
                </c:pt>
                <c:pt idx="6">
                  <c:v>Sun</c:v>
                </c:pt>
              </c:strCache>
            </c:strRef>
          </c:cat>
          <c:val>
            <c:numRef>
              <c:f>Sheet1!$C$2:$C$8</c:f>
              <c:numCache>
                <c:formatCode>General</c:formatCode>
                <c:ptCount val="7"/>
                <c:pt idx="0">
                  <c:v>35</c:v>
                </c:pt>
                <c:pt idx="1">
                  <c:v>38</c:v>
                </c:pt>
                <c:pt idx="2">
                  <c:v>40</c:v>
                </c:pt>
                <c:pt idx="3">
                  <c:v>45</c:v>
                </c:pt>
                <c:pt idx="4">
                  <c:v>60</c:v>
                </c:pt>
                <c:pt idx="5">
                  <c:v>68</c:v>
                </c:pt>
                <c:pt idx="6">
                  <c:v>55</c:v>
                </c:pt>
              </c:numCache>
            </c:numRef>
          </c:val>
          <c:smooth val="0"/>
          <c:extLst>
            <c:ext xmlns:c16="http://schemas.microsoft.com/office/drawing/2014/chart" uri="{C3380CC4-5D6E-409C-BE32-E72D297353CC}">
              <c16:uniqueId val="{00000001-23CF-4031-86D4-3117708362D5}"/>
            </c:ext>
          </c:extLst>
        </c:ser>
        <c:ser>
          <c:idx val="2"/>
          <c:order val="2"/>
          <c:tx>
            <c:strRef>
              <c:f>Sheet1!$D$1</c:f>
              <c:strCache>
                <c:ptCount val="1"/>
                <c:pt idx="0">
                  <c:v>Teenagers</c:v>
                </c:pt>
              </c:strCache>
            </c:strRef>
          </c:tx>
          <c:spPr>
            <a:ln w="38100" cap="flat">
              <a:solidFill>
                <a:srgbClr val="22D3EE"/>
              </a:solidFill>
              <a:prstDash val="solid"/>
              <a:round/>
            </a:ln>
            <a:effectLst/>
          </c:spPr>
          <c:marker>
            <c:symbol val="circle"/>
            <c:size val="8"/>
            <c:spPr>
              <a:solidFill>
                <a:srgbClr val="22D3EE"/>
              </a:solidFill>
              <a:ln w="9525" cap="flat">
                <a:solidFill>
                  <a:srgbClr val="22D3EE"/>
                </a:solidFill>
                <a:prstDash val="solid"/>
                <a:round/>
              </a:ln>
              <a:effectLst/>
            </c:spPr>
          </c:marker>
          <c:cat>
            <c:strRef>
              <c:f>Sheet1!$A$2:$A$8</c:f>
              <c:strCache>
                <c:ptCount val="7"/>
                <c:pt idx="0">
                  <c:v>Mon</c:v>
                </c:pt>
                <c:pt idx="1">
                  <c:v>Tue</c:v>
                </c:pt>
                <c:pt idx="2">
                  <c:v>Wed</c:v>
                </c:pt>
                <c:pt idx="3">
                  <c:v>Thu</c:v>
                </c:pt>
                <c:pt idx="4">
                  <c:v>Fri</c:v>
                </c:pt>
                <c:pt idx="5">
                  <c:v>Sat</c:v>
                </c:pt>
                <c:pt idx="6">
                  <c:v>Sun</c:v>
                </c:pt>
              </c:strCache>
            </c:strRef>
          </c:cat>
          <c:val>
            <c:numRef>
              <c:f>Sheet1!$D$2:$D$8</c:f>
              <c:numCache>
                <c:formatCode>General</c:formatCode>
                <c:ptCount val="7"/>
                <c:pt idx="0">
                  <c:v>20</c:v>
                </c:pt>
                <c:pt idx="1">
                  <c:v>22</c:v>
                </c:pt>
                <c:pt idx="2">
                  <c:v>25</c:v>
                </c:pt>
                <c:pt idx="3">
                  <c:v>32</c:v>
                </c:pt>
                <c:pt idx="4">
                  <c:v>18</c:v>
                </c:pt>
                <c:pt idx="5">
                  <c:v>30</c:v>
                </c:pt>
                <c:pt idx="6">
                  <c:v>22</c:v>
                </c:pt>
              </c:numCache>
            </c:numRef>
          </c:val>
          <c:smooth val="0"/>
          <c:extLst>
            <c:ext xmlns:c16="http://schemas.microsoft.com/office/drawing/2014/chart" uri="{C3380CC4-5D6E-409C-BE32-E72D297353CC}">
              <c16:uniqueId val="{00000002-23CF-4031-86D4-3117708362D5}"/>
            </c:ext>
          </c:extLst>
        </c:ser>
        <c:ser>
          <c:idx val="3"/>
          <c:order val="3"/>
          <c:tx>
            <c:strRef>
              <c:f>Sheet1!$E$1</c:f>
              <c:strCache>
                <c:ptCount val="1"/>
                <c:pt idx="0">
                  <c:v>Kids</c:v>
                </c:pt>
              </c:strCache>
            </c:strRef>
          </c:tx>
          <c:spPr>
            <a:ln w="38100" cap="flat">
              <a:solidFill>
                <a:srgbClr val="A78BFA"/>
              </a:solidFill>
              <a:prstDash val="solid"/>
              <a:round/>
            </a:ln>
            <a:effectLst/>
          </c:spPr>
          <c:marker>
            <c:symbol val="circle"/>
            <c:size val="8"/>
            <c:spPr>
              <a:solidFill>
                <a:srgbClr val="A78BFA"/>
              </a:solidFill>
              <a:ln w="9525" cap="flat">
                <a:solidFill>
                  <a:srgbClr val="A78BFA"/>
                </a:solidFill>
                <a:prstDash val="solid"/>
                <a:round/>
              </a:ln>
              <a:effectLst/>
            </c:spPr>
          </c:marker>
          <c:cat>
            <c:strRef>
              <c:f>Sheet1!$A$2:$A$8</c:f>
              <c:strCache>
                <c:ptCount val="7"/>
                <c:pt idx="0">
                  <c:v>Mon</c:v>
                </c:pt>
                <c:pt idx="1">
                  <c:v>Tue</c:v>
                </c:pt>
                <c:pt idx="2">
                  <c:v>Wed</c:v>
                </c:pt>
                <c:pt idx="3">
                  <c:v>Thu</c:v>
                </c:pt>
                <c:pt idx="4">
                  <c:v>Fri</c:v>
                </c:pt>
                <c:pt idx="5">
                  <c:v>Sat</c:v>
                </c:pt>
                <c:pt idx="6">
                  <c:v>Sun</c:v>
                </c:pt>
              </c:strCache>
            </c:strRef>
          </c:cat>
          <c:val>
            <c:numRef>
              <c:f>Sheet1!$E$2:$E$8</c:f>
              <c:numCache>
                <c:formatCode>General</c:formatCode>
                <c:ptCount val="7"/>
                <c:pt idx="0">
                  <c:v>8</c:v>
                </c:pt>
                <c:pt idx="1">
                  <c:v>9</c:v>
                </c:pt>
                <c:pt idx="2">
                  <c:v>10</c:v>
                </c:pt>
                <c:pt idx="3">
                  <c:v>12</c:v>
                </c:pt>
                <c:pt idx="4">
                  <c:v>11</c:v>
                </c:pt>
                <c:pt idx="5">
                  <c:v>15</c:v>
                </c:pt>
                <c:pt idx="6">
                  <c:v>12</c:v>
                </c:pt>
              </c:numCache>
            </c:numRef>
          </c:val>
          <c:smooth val="0"/>
          <c:extLst>
            <c:ext xmlns:c16="http://schemas.microsoft.com/office/drawing/2014/chart" uri="{C3380CC4-5D6E-409C-BE32-E72D297353CC}">
              <c16:uniqueId val="{00000003-23CF-4031-86D4-3117708362D5}"/>
            </c:ext>
          </c:extLst>
        </c:ser>
        <c:ser>
          <c:idx val="4"/>
          <c:order val="4"/>
          <c:tx>
            <c:strRef>
              <c:f>Sheet1!$F$1</c:f>
              <c:strCache>
                <c:ptCount val="1"/>
                <c:pt idx="0">
                  <c:v>Pensioners</c:v>
                </c:pt>
              </c:strCache>
            </c:strRef>
          </c:tx>
          <c:spPr>
            <a:ln w="38100" cap="flat">
              <a:solidFill>
                <a:srgbClr val="10B981"/>
              </a:solidFill>
              <a:prstDash val="solid"/>
              <a:round/>
            </a:ln>
            <a:effectLst/>
          </c:spPr>
          <c:marker>
            <c:symbol val="circle"/>
            <c:size val="8"/>
            <c:spPr>
              <a:solidFill>
                <a:srgbClr val="10B981"/>
              </a:solidFill>
              <a:ln w="9525" cap="flat">
                <a:solidFill>
                  <a:srgbClr val="10B981"/>
                </a:solidFill>
                <a:prstDash val="solid"/>
                <a:round/>
              </a:ln>
              <a:effectLst/>
            </c:spPr>
          </c:marker>
          <c:cat>
            <c:strRef>
              <c:f>Sheet1!$A$2:$A$8</c:f>
              <c:strCache>
                <c:ptCount val="7"/>
                <c:pt idx="0">
                  <c:v>Mon</c:v>
                </c:pt>
                <c:pt idx="1">
                  <c:v>Tue</c:v>
                </c:pt>
                <c:pt idx="2">
                  <c:v>Wed</c:v>
                </c:pt>
                <c:pt idx="3">
                  <c:v>Thu</c:v>
                </c:pt>
                <c:pt idx="4">
                  <c:v>Fri</c:v>
                </c:pt>
                <c:pt idx="5">
                  <c:v>Sat</c:v>
                </c:pt>
                <c:pt idx="6">
                  <c:v>Sun</c:v>
                </c:pt>
              </c:strCache>
            </c:strRef>
          </c:cat>
          <c:val>
            <c:numRef>
              <c:f>Sheet1!$F$2:$F$8</c:f>
              <c:numCache>
                <c:formatCode>General</c:formatCode>
                <c:ptCount val="7"/>
                <c:pt idx="0">
                  <c:v>1</c:v>
                </c:pt>
                <c:pt idx="1">
                  <c:v>2</c:v>
                </c:pt>
                <c:pt idx="2">
                  <c:v>2</c:v>
                </c:pt>
                <c:pt idx="3">
                  <c:v>2</c:v>
                </c:pt>
                <c:pt idx="4">
                  <c:v>3</c:v>
                </c:pt>
                <c:pt idx="5">
                  <c:v>3</c:v>
                </c:pt>
                <c:pt idx="6">
                  <c:v>2</c:v>
                </c:pt>
              </c:numCache>
            </c:numRef>
          </c:val>
          <c:smooth val="0"/>
          <c:extLst>
            <c:ext xmlns:c16="http://schemas.microsoft.com/office/drawing/2014/chart" uri="{C3380CC4-5D6E-409C-BE32-E72D297353CC}">
              <c16:uniqueId val="{00000004-23CF-4031-86D4-3117708362D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34366"/>
              </a:solidFill>
              <a:prstDash val="dash"/>
              <a:round/>
            </a:ln>
          </c:spPr>
        </c:majorGridlines>
        <c:numFmt formatCode="General" sourceLinked="0"/>
        <c:majorTickMark val="out"/>
        <c:minorTickMark val="none"/>
        <c:tickLblPos val="nextTo"/>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FFFFF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Jan</c:v>
                </c:pt>
              </c:strCache>
            </c:strRef>
          </c:tx>
          <c:spPr>
            <a:solidFill>
              <a:srgbClr val="0057FF"/>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Black</c:v>
                </c:pt>
                <c:pt idx="1">
                  <c:v>Coloured</c:v>
                </c:pt>
                <c:pt idx="2">
                  <c:v>Indian/Asian</c:v>
                </c:pt>
                <c:pt idx="3">
                  <c:v>Other</c:v>
                </c:pt>
                <c:pt idx="4">
                  <c:v>White</c:v>
                </c:pt>
              </c:strCache>
            </c:strRef>
          </c:cat>
          <c:val>
            <c:numRef>
              <c:f>Sheet1!$B$2:$B$6</c:f>
              <c:numCache>
                <c:formatCode>General</c:formatCode>
                <c:ptCount val="5"/>
                <c:pt idx="0">
                  <c:v>114</c:v>
                </c:pt>
                <c:pt idx="1">
                  <c:v>44</c:v>
                </c:pt>
                <c:pt idx="2">
                  <c:v>17</c:v>
                </c:pt>
                <c:pt idx="3">
                  <c:v>19</c:v>
                </c:pt>
                <c:pt idx="4">
                  <c:v>18</c:v>
                </c:pt>
              </c:numCache>
            </c:numRef>
          </c:val>
          <c:extLst>
            <c:ext xmlns:c16="http://schemas.microsoft.com/office/drawing/2014/chart" uri="{C3380CC4-5D6E-409C-BE32-E72D297353CC}">
              <c16:uniqueId val="{00000000-93DD-43E1-8E00-67CD51E333BA}"/>
            </c:ext>
          </c:extLst>
        </c:ser>
        <c:ser>
          <c:idx val="1"/>
          <c:order val="1"/>
          <c:tx>
            <c:strRef>
              <c:f>Sheet1!$C$1</c:f>
              <c:strCache>
                <c:ptCount val="1"/>
                <c:pt idx="0">
                  <c:v>Feb</c:v>
                </c:pt>
              </c:strCache>
            </c:strRef>
          </c:tx>
          <c:spPr>
            <a:solidFill>
              <a:srgbClr val="F28C28"/>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Black</c:v>
                </c:pt>
                <c:pt idx="1">
                  <c:v>Coloured</c:v>
                </c:pt>
                <c:pt idx="2">
                  <c:v>Indian/Asian</c:v>
                </c:pt>
                <c:pt idx="3">
                  <c:v>Other</c:v>
                </c:pt>
                <c:pt idx="4">
                  <c:v>White</c:v>
                </c:pt>
              </c:strCache>
            </c:strRef>
          </c:cat>
          <c:val>
            <c:numRef>
              <c:f>Sheet1!$C$2:$C$6</c:f>
              <c:numCache>
                <c:formatCode>General</c:formatCode>
                <c:ptCount val="5"/>
                <c:pt idx="0">
                  <c:v>138</c:v>
                </c:pt>
                <c:pt idx="1">
                  <c:v>93</c:v>
                </c:pt>
                <c:pt idx="2">
                  <c:v>28</c:v>
                </c:pt>
                <c:pt idx="3">
                  <c:v>19</c:v>
                </c:pt>
                <c:pt idx="4">
                  <c:v>23</c:v>
                </c:pt>
              </c:numCache>
            </c:numRef>
          </c:val>
          <c:extLst>
            <c:ext xmlns:c16="http://schemas.microsoft.com/office/drawing/2014/chart" uri="{C3380CC4-5D6E-409C-BE32-E72D297353CC}">
              <c16:uniqueId val="{00000001-93DD-43E1-8E00-67CD51E333BA}"/>
            </c:ext>
          </c:extLst>
        </c:ser>
        <c:ser>
          <c:idx val="2"/>
          <c:order val="2"/>
          <c:tx>
            <c:strRef>
              <c:f>Sheet1!$D$1</c:f>
              <c:strCache>
                <c:ptCount val="1"/>
                <c:pt idx="0">
                  <c:v>Mar</c:v>
                </c:pt>
              </c:strCache>
            </c:strRef>
          </c:tx>
          <c:spPr>
            <a:solidFill>
              <a:srgbClr val="22D3EE"/>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Black</c:v>
                </c:pt>
                <c:pt idx="1">
                  <c:v>Coloured</c:v>
                </c:pt>
                <c:pt idx="2">
                  <c:v>Indian/Asian</c:v>
                </c:pt>
                <c:pt idx="3">
                  <c:v>Other</c:v>
                </c:pt>
                <c:pt idx="4">
                  <c:v>White</c:v>
                </c:pt>
              </c:strCache>
            </c:strRef>
          </c:cat>
          <c:val>
            <c:numRef>
              <c:f>Sheet1!$D$2:$D$6</c:f>
              <c:numCache>
                <c:formatCode>General</c:formatCode>
                <c:ptCount val="5"/>
                <c:pt idx="0">
                  <c:v>178</c:v>
                </c:pt>
                <c:pt idx="1">
                  <c:v>117</c:v>
                </c:pt>
                <c:pt idx="2">
                  <c:v>105</c:v>
                </c:pt>
                <c:pt idx="3">
                  <c:v>41</c:v>
                </c:pt>
                <c:pt idx="4">
                  <c:v>46</c:v>
                </c:pt>
              </c:numCache>
            </c:numRef>
          </c:val>
          <c:extLst>
            <c:ext xmlns:c16="http://schemas.microsoft.com/office/drawing/2014/chart" uri="{C3380CC4-5D6E-409C-BE32-E72D297353CC}">
              <c16:uniqueId val="{00000002-93DD-43E1-8E00-67CD51E333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34366"/>
              </a:solidFill>
              <a:prstDash val="dash"/>
              <a:round/>
            </a:ln>
          </c:spPr>
        </c:majorGridlines>
        <c:numFmt formatCode="General" sourceLinked="0"/>
        <c:majorTickMark val="out"/>
        <c:minorTickMark val="none"/>
        <c:tickLblPos val="nextTo"/>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FFFFF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 Morning</c:v>
                </c:pt>
              </c:strCache>
            </c:strRef>
          </c:tx>
          <c:spPr>
            <a:solidFill>
              <a:srgbClr val="F28C28"/>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40</c:v>
                </c:pt>
                <c:pt idx="1">
                  <c:v>42</c:v>
                </c:pt>
                <c:pt idx="2">
                  <c:v>55</c:v>
                </c:pt>
                <c:pt idx="3">
                  <c:v>48</c:v>
                </c:pt>
                <c:pt idx="4">
                  <c:v>50</c:v>
                </c:pt>
                <c:pt idx="5">
                  <c:v>70</c:v>
                </c:pt>
                <c:pt idx="6">
                  <c:v>60</c:v>
                </c:pt>
              </c:numCache>
            </c:numRef>
          </c:val>
          <c:extLst>
            <c:ext xmlns:c16="http://schemas.microsoft.com/office/drawing/2014/chart" uri="{C3380CC4-5D6E-409C-BE32-E72D297353CC}">
              <c16:uniqueId val="{00000000-7B4D-4550-989F-BB406388473A}"/>
            </c:ext>
          </c:extLst>
        </c:ser>
        <c:ser>
          <c:idx val="1"/>
          <c:order val="1"/>
          <c:tx>
            <c:strRef>
              <c:f>Sheet1!$C$1</c:f>
              <c:strCache>
                <c:ptCount val="1"/>
                <c:pt idx="0">
                  <c:v>☀️ Afternoon</c:v>
                </c:pt>
              </c:strCache>
            </c:strRef>
          </c:tx>
          <c:spPr>
            <a:solidFill>
              <a:srgbClr val="FBBF24"/>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Sheet1!$C$2:$C$8</c:f>
              <c:numCache>
                <c:formatCode>General</c:formatCode>
                <c:ptCount val="7"/>
                <c:pt idx="0">
                  <c:v>55</c:v>
                </c:pt>
                <c:pt idx="1">
                  <c:v>58</c:v>
                </c:pt>
                <c:pt idx="2">
                  <c:v>60</c:v>
                </c:pt>
                <c:pt idx="3">
                  <c:v>62</c:v>
                </c:pt>
                <c:pt idx="4">
                  <c:v>68</c:v>
                </c:pt>
                <c:pt idx="5">
                  <c:v>85</c:v>
                </c:pt>
                <c:pt idx="6">
                  <c:v>72</c:v>
                </c:pt>
              </c:numCache>
            </c:numRef>
          </c:val>
          <c:extLst>
            <c:ext xmlns:c16="http://schemas.microsoft.com/office/drawing/2014/chart" uri="{C3380CC4-5D6E-409C-BE32-E72D297353CC}">
              <c16:uniqueId val="{00000001-7B4D-4550-989F-BB406388473A}"/>
            </c:ext>
          </c:extLst>
        </c:ser>
        <c:ser>
          <c:idx val="2"/>
          <c:order val="2"/>
          <c:tx>
            <c:strRef>
              <c:f>Sheet1!$D$1</c:f>
              <c:strCache>
                <c:ptCount val="1"/>
                <c:pt idx="0">
                  <c:v>🌆 Evening</c:v>
                </c:pt>
              </c:strCache>
            </c:strRef>
          </c:tx>
          <c:spPr>
            <a:solidFill>
              <a:srgbClr val="0057FF"/>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Sheet1!$D$2:$D$8</c:f>
              <c:numCache>
                <c:formatCode>General</c:formatCode>
                <c:ptCount val="7"/>
                <c:pt idx="0">
                  <c:v>35</c:v>
                </c:pt>
                <c:pt idx="1">
                  <c:v>38</c:v>
                </c:pt>
                <c:pt idx="2">
                  <c:v>40</c:v>
                </c:pt>
                <c:pt idx="3">
                  <c:v>42</c:v>
                </c:pt>
                <c:pt idx="4">
                  <c:v>50</c:v>
                </c:pt>
                <c:pt idx="5">
                  <c:v>55</c:v>
                </c:pt>
                <c:pt idx="6">
                  <c:v>48</c:v>
                </c:pt>
              </c:numCache>
            </c:numRef>
          </c:val>
          <c:extLst>
            <c:ext xmlns:c16="http://schemas.microsoft.com/office/drawing/2014/chart" uri="{C3380CC4-5D6E-409C-BE32-E72D297353CC}">
              <c16:uniqueId val="{00000002-7B4D-4550-989F-BB406388473A}"/>
            </c:ext>
          </c:extLst>
        </c:ser>
        <c:ser>
          <c:idx val="3"/>
          <c:order val="3"/>
          <c:tx>
            <c:strRef>
              <c:f>Sheet1!$E$1</c:f>
              <c:strCache>
                <c:ptCount val="1"/>
                <c:pt idx="0">
                  <c:v>🌃 Prime Time</c:v>
                </c:pt>
              </c:strCache>
            </c:strRef>
          </c:tx>
          <c:spPr>
            <a:solidFill>
              <a:srgbClr val="A78BFA"/>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Sheet1!$E$2:$E$8</c:f>
              <c:numCache>
                <c:formatCode>General</c:formatCode>
                <c:ptCount val="7"/>
                <c:pt idx="0">
                  <c:v>30</c:v>
                </c:pt>
                <c:pt idx="1">
                  <c:v>32</c:v>
                </c:pt>
                <c:pt idx="2">
                  <c:v>35</c:v>
                </c:pt>
                <c:pt idx="3">
                  <c:v>38</c:v>
                </c:pt>
                <c:pt idx="4">
                  <c:v>45</c:v>
                </c:pt>
                <c:pt idx="5">
                  <c:v>50</c:v>
                </c:pt>
                <c:pt idx="6">
                  <c:v>42</c:v>
                </c:pt>
              </c:numCache>
            </c:numRef>
          </c:val>
          <c:extLst>
            <c:ext xmlns:c16="http://schemas.microsoft.com/office/drawing/2014/chart" uri="{C3380CC4-5D6E-409C-BE32-E72D297353CC}">
              <c16:uniqueId val="{00000003-7B4D-4550-989F-BB406388473A}"/>
            </c:ext>
          </c:extLst>
        </c:ser>
        <c:ser>
          <c:idx val="4"/>
          <c:order val="4"/>
          <c:tx>
            <c:strRef>
              <c:f>Sheet1!$F$1</c:f>
              <c:strCache>
                <c:ptCount val="1"/>
                <c:pt idx="0">
                  <c:v>🌙 Late Night</c:v>
                </c:pt>
              </c:strCache>
            </c:strRef>
          </c:tx>
          <c:spPr>
            <a:solidFill>
              <a:srgbClr val="1E3A8A"/>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Sheet1!$F$2:$F$8</c:f>
              <c:numCache>
                <c:formatCode>General</c:formatCode>
                <c:ptCount val="7"/>
                <c:pt idx="0">
                  <c:v>10</c:v>
                </c:pt>
                <c:pt idx="1">
                  <c:v>12</c:v>
                </c:pt>
                <c:pt idx="2">
                  <c:v>12</c:v>
                </c:pt>
                <c:pt idx="3">
                  <c:v>14</c:v>
                </c:pt>
                <c:pt idx="4">
                  <c:v>18</c:v>
                </c:pt>
                <c:pt idx="5">
                  <c:v>22</c:v>
                </c:pt>
                <c:pt idx="6">
                  <c:v>18</c:v>
                </c:pt>
              </c:numCache>
            </c:numRef>
          </c:val>
          <c:extLst>
            <c:ext xmlns:c16="http://schemas.microsoft.com/office/drawing/2014/chart" uri="{C3380CC4-5D6E-409C-BE32-E72D297353CC}">
              <c16:uniqueId val="{00000004-7B4D-4550-989F-BB406388473A}"/>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34366"/>
              </a:solidFill>
              <a:prstDash val="dash"/>
              <a:round/>
            </a:ln>
          </c:spPr>
        </c:majorGridlines>
        <c:numFmt formatCode="General" sourceLinked="0"/>
        <c:majorTickMark val="out"/>
        <c:minorTickMark val="none"/>
        <c:tickLblPos val="nextTo"/>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FFFFF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Male</c:v>
                </c:pt>
              </c:strCache>
            </c:strRef>
          </c:tx>
          <c:spPr>
            <a:solidFill>
              <a:srgbClr val="0057FF"/>
            </a:solidFill>
            <a:effectLst/>
          </c:spPr>
          <c:invertIfNegative val="0"/>
          <c:cat>
            <c:strRef>
              <c:f>Sheet1!$A$2:$A$11</c:f>
              <c:strCache>
                <c:ptCount val="10"/>
                <c:pt idx="0">
                  <c:v>Gauteng</c:v>
                </c:pt>
                <c:pt idx="1">
                  <c:v>W Cape</c:v>
                </c:pt>
                <c:pt idx="2">
                  <c:v>KZN</c:v>
                </c:pt>
                <c:pt idx="3">
                  <c:v>E Cape</c:v>
                </c:pt>
                <c:pt idx="4">
                  <c:v>Limpopo</c:v>
                </c:pt>
                <c:pt idx="5">
                  <c:v>Mpumalanga</c:v>
                </c:pt>
                <c:pt idx="6">
                  <c:v>Free State</c:v>
                </c:pt>
                <c:pt idx="7">
                  <c:v>N West</c:v>
                </c:pt>
                <c:pt idx="8">
                  <c:v>N Cape</c:v>
                </c:pt>
                <c:pt idx="9">
                  <c:v>Uncat.</c:v>
                </c:pt>
              </c:strCache>
            </c:strRef>
          </c:cat>
          <c:val>
            <c:numRef>
              <c:f>Sheet1!$B$2:$B$11</c:f>
              <c:numCache>
                <c:formatCode>General</c:formatCode>
                <c:ptCount val="10"/>
                <c:pt idx="0">
                  <c:v>309</c:v>
                </c:pt>
                <c:pt idx="1">
                  <c:v>217</c:v>
                </c:pt>
                <c:pt idx="2">
                  <c:v>78</c:v>
                </c:pt>
                <c:pt idx="3">
                  <c:v>55</c:v>
                </c:pt>
                <c:pt idx="4">
                  <c:v>72</c:v>
                </c:pt>
                <c:pt idx="5">
                  <c:v>62</c:v>
                </c:pt>
                <c:pt idx="6">
                  <c:v>36</c:v>
                </c:pt>
                <c:pt idx="7">
                  <c:v>30</c:v>
                </c:pt>
                <c:pt idx="8">
                  <c:v>14</c:v>
                </c:pt>
                <c:pt idx="9">
                  <c:v>0</c:v>
                </c:pt>
              </c:numCache>
            </c:numRef>
          </c:val>
          <c:extLst>
            <c:ext xmlns:c16="http://schemas.microsoft.com/office/drawing/2014/chart" uri="{C3380CC4-5D6E-409C-BE32-E72D297353CC}">
              <c16:uniqueId val="{00000000-4708-4972-8550-ABCAA3255D46}"/>
            </c:ext>
          </c:extLst>
        </c:ser>
        <c:ser>
          <c:idx val="1"/>
          <c:order val="1"/>
          <c:tx>
            <c:strRef>
              <c:f>Sheet1!$C$1</c:f>
              <c:strCache>
                <c:ptCount val="1"/>
                <c:pt idx="0">
                  <c:v>Female</c:v>
                </c:pt>
              </c:strCache>
            </c:strRef>
          </c:tx>
          <c:spPr>
            <a:solidFill>
              <a:srgbClr val="F28C28"/>
            </a:solidFill>
            <a:effectLst/>
          </c:spPr>
          <c:invertIfNegative val="0"/>
          <c:cat>
            <c:strRef>
              <c:f>Sheet1!$A$2:$A$11</c:f>
              <c:strCache>
                <c:ptCount val="10"/>
                <c:pt idx="0">
                  <c:v>Gauteng</c:v>
                </c:pt>
                <c:pt idx="1">
                  <c:v>W Cape</c:v>
                </c:pt>
                <c:pt idx="2">
                  <c:v>KZN</c:v>
                </c:pt>
                <c:pt idx="3">
                  <c:v>E Cape</c:v>
                </c:pt>
                <c:pt idx="4">
                  <c:v>Limpopo</c:v>
                </c:pt>
                <c:pt idx="5">
                  <c:v>Mpumalanga</c:v>
                </c:pt>
                <c:pt idx="6">
                  <c:v>Free State</c:v>
                </c:pt>
                <c:pt idx="7">
                  <c:v>N West</c:v>
                </c:pt>
                <c:pt idx="8">
                  <c:v>N Cape</c:v>
                </c:pt>
                <c:pt idx="9">
                  <c:v>Uncat.</c:v>
                </c:pt>
              </c:strCache>
            </c:strRef>
          </c:cat>
          <c:val>
            <c:numRef>
              <c:f>Sheet1!$C$2:$C$11</c:f>
              <c:numCache>
                <c:formatCode>General</c:formatCode>
                <c:ptCount val="10"/>
                <c:pt idx="0">
                  <c:v>26</c:v>
                </c:pt>
                <c:pt idx="1">
                  <c:v>28</c:v>
                </c:pt>
                <c:pt idx="2">
                  <c:v>13</c:v>
                </c:pt>
                <c:pt idx="3">
                  <c:v>23</c:v>
                </c:pt>
                <c:pt idx="4">
                  <c:v>5</c:v>
                </c:pt>
                <c:pt idx="5">
                  <c:v>4</c:v>
                </c:pt>
                <c:pt idx="6">
                  <c:v>5</c:v>
                </c:pt>
                <c:pt idx="7">
                  <c:v>3</c:v>
                </c:pt>
                <c:pt idx="8">
                  <c:v>0</c:v>
                </c:pt>
                <c:pt idx="9">
                  <c:v>0</c:v>
                </c:pt>
              </c:numCache>
            </c:numRef>
          </c:val>
          <c:extLst>
            <c:ext xmlns:c16="http://schemas.microsoft.com/office/drawing/2014/chart" uri="{C3380CC4-5D6E-409C-BE32-E72D297353CC}">
              <c16:uniqueId val="{00000001-4708-4972-8550-ABCAA3255D46}"/>
            </c:ext>
          </c:extLst>
        </c:ser>
        <c:ser>
          <c:idx val="2"/>
          <c:order val="2"/>
          <c:tx>
            <c:strRef>
              <c:f>Sheet1!$D$1</c:f>
              <c:strCache>
                <c:ptCount val="1"/>
                <c:pt idx="0">
                  <c:v>Other</c:v>
                </c:pt>
              </c:strCache>
            </c:strRef>
          </c:tx>
          <c:spPr>
            <a:solidFill>
              <a:srgbClr val="A78BFA"/>
            </a:solidFill>
            <a:effectLst/>
          </c:spPr>
          <c:invertIfNegative val="0"/>
          <c:cat>
            <c:strRef>
              <c:f>Sheet1!$A$2:$A$11</c:f>
              <c:strCache>
                <c:ptCount val="10"/>
                <c:pt idx="0">
                  <c:v>Gauteng</c:v>
                </c:pt>
                <c:pt idx="1">
                  <c:v>W Cape</c:v>
                </c:pt>
                <c:pt idx="2">
                  <c:v>KZN</c:v>
                </c:pt>
                <c:pt idx="3">
                  <c:v>E Cape</c:v>
                </c:pt>
                <c:pt idx="4">
                  <c:v>Limpopo</c:v>
                </c:pt>
                <c:pt idx="5">
                  <c:v>Mpumalanga</c:v>
                </c:pt>
                <c:pt idx="6">
                  <c:v>Free State</c:v>
                </c:pt>
                <c:pt idx="7">
                  <c:v>N West</c:v>
                </c:pt>
                <c:pt idx="8">
                  <c:v>N Cape</c:v>
                </c:pt>
                <c:pt idx="9">
                  <c:v>Uncat.</c:v>
                </c:pt>
              </c:strCache>
            </c:strRef>
          </c:cat>
          <c:val>
            <c:numRef>
              <c:f>Sheet1!$D$2:$D$11</c:f>
              <c:numCache>
                <c:formatCode>General</c:formatCode>
                <c:ptCount val="10"/>
                <c:pt idx="0">
                  <c:v>0</c:v>
                </c:pt>
                <c:pt idx="1">
                  <c:v>0</c:v>
                </c:pt>
                <c:pt idx="2">
                  <c:v>0</c:v>
                </c:pt>
                <c:pt idx="3">
                  <c:v>0</c:v>
                </c:pt>
                <c:pt idx="4">
                  <c:v>0</c:v>
                </c:pt>
                <c:pt idx="5">
                  <c:v>0</c:v>
                </c:pt>
                <c:pt idx="6">
                  <c:v>0</c:v>
                </c:pt>
                <c:pt idx="7">
                  <c:v>0</c:v>
                </c:pt>
                <c:pt idx="8">
                  <c:v>0</c:v>
                </c:pt>
                <c:pt idx="9">
                  <c:v>20</c:v>
                </c:pt>
              </c:numCache>
            </c:numRef>
          </c:val>
          <c:extLst>
            <c:ext xmlns:c16="http://schemas.microsoft.com/office/drawing/2014/chart" uri="{C3380CC4-5D6E-409C-BE32-E72D297353CC}">
              <c16:uniqueId val="{00000002-4708-4972-8550-ABCAA3255D46}"/>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34366"/>
              </a:solidFill>
              <a:prstDash val="dash"/>
              <a:round/>
            </a:ln>
          </c:spPr>
        </c:majorGridlines>
        <c:numFmt formatCode="General" sourceLinked="0"/>
        <c:majorTickMark val="out"/>
        <c:minorTickMark val="none"/>
        <c:tickLblPos val="nextTo"/>
        <c:spPr>
          <a:ln w="12700" cap="flat">
            <a:solidFill>
              <a:srgbClr val="9AA6BF"/>
            </a:solidFill>
            <a:prstDash val="solid"/>
            <a:round/>
          </a:ln>
        </c:spPr>
        <c:txPr>
          <a:bodyPr/>
          <a:lstStyle/>
          <a:p>
            <a:pPr>
              <a:defRPr sz="900" b="0" i="0" u="none" strike="noStrike">
                <a:solidFill>
                  <a:srgbClr val="FFFFF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FFFFF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9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8686800" y="-1828800"/>
            <a:ext cx="7315200" cy="7315200"/>
          </a:xfrm>
          <a:prstGeom prst="ellipse">
            <a:avLst/>
          </a:prstGeom>
          <a:solidFill>
            <a:srgbClr val="0057FF">
              <a:alpha val="30000"/>
            </a:srgbClr>
          </a:solidFill>
          <a:ln w="12700">
            <a:solidFill>
              <a:srgbClr val="0057FF">
                <a:alpha val="0"/>
              </a:srgbClr>
            </a:solidFill>
            <a:prstDash val="solid"/>
          </a:ln>
        </p:spPr>
      </p:sp>
      <p:sp>
        <p:nvSpPr>
          <p:cNvPr id="3" name="Shape 1"/>
          <p:cNvSpPr/>
          <p:nvPr/>
        </p:nvSpPr>
        <p:spPr>
          <a:xfrm>
            <a:off x="-2743200" y="3657600"/>
            <a:ext cx="6400800" cy="6400800"/>
          </a:xfrm>
          <a:prstGeom prst="ellipse">
            <a:avLst/>
          </a:prstGeom>
          <a:solidFill>
            <a:srgbClr val="F28C28">
              <a:alpha val="15000"/>
            </a:srgbClr>
          </a:solidFill>
          <a:ln w="12700">
            <a:solidFill>
              <a:srgbClr val="F28C28">
                <a:alpha val="0"/>
              </a:srgbClr>
            </a:solidFill>
            <a:prstDash val="solid"/>
          </a:ln>
        </p:spPr>
      </p:sp>
      <p:sp>
        <p:nvSpPr>
          <p:cNvPr id="4" name="Shape 2"/>
          <p:cNvSpPr/>
          <p:nvPr/>
        </p:nvSpPr>
        <p:spPr>
          <a:xfrm>
            <a:off x="0" y="0"/>
            <a:ext cx="12188952" cy="137160"/>
          </a:xfrm>
          <a:prstGeom prst="rect">
            <a:avLst/>
          </a:prstGeom>
          <a:solidFill>
            <a:srgbClr val="F28C28"/>
          </a:solidFill>
          <a:ln w="12700">
            <a:solidFill>
              <a:srgbClr val="F28C28"/>
            </a:solidFill>
            <a:prstDash val="solid"/>
          </a:ln>
        </p:spPr>
      </p:sp>
      <p:sp>
        <p:nvSpPr>
          <p:cNvPr id="5" name="Text 3"/>
          <p:cNvSpPr/>
          <p:nvPr/>
        </p:nvSpPr>
        <p:spPr>
          <a:xfrm>
            <a:off x="548640" y="1463040"/>
            <a:ext cx="914400" cy="914400"/>
          </a:xfrm>
          <a:prstGeom prst="rect">
            <a:avLst/>
          </a:prstGeom>
          <a:noFill/>
          <a:ln/>
        </p:spPr>
        <p:txBody>
          <a:bodyPr wrap="square" rtlCol="0" anchor="ctr"/>
          <a:lstStyle/>
          <a:p>
            <a:pPr marL="0" indent="0">
              <a:buNone/>
            </a:pPr>
            <a:r>
              <a:rPr lang="en-US" sz="6000" b="1" dirty="0">
                <a:solidFill>
                  <a:srgbClr val="F28C28"/>
                </a:solidFill>
              </a:rPr>
              <a:t>▶</a:t>
            </a:r>
            <a:endParaRPr lang="en-US" sz="6000" dirty="0"/>
          </a:p>
        </p:txBody>
      </p:sp>
      <p:sp>
        <p:nvSpPr>
          <p:cNvPr id="6" name="Text 4"/>
          <p:cNvSpPr/>
          <p:nvPr/>
        </p:nvSpPr>
        <p:spPr>
          <a:xfrm>
            <a:off x="1371600" y="1645920"/>
            <a:ext cx="7315200" cy="640080"/>
          </a:xfrm>
          <a:prstGeom prst="rect">
            <a:avLst/>
          </a:prstGeom>
          <a:noFill/>
          <a:ln/>
        </p:spPr>
        <p:txBody>
          <a:bodyPr wrap="square" rtlCol="0" anchor="ctr"/>
          <a:lstStyle/>
          <a:p>
            <a:pPr marL="0" indent="0">
              <a:buNone/>
            </a:pPr>
            <a:r>
              <a:rPr lang="en-US" sz="2800" b="1" kern="0" spc="600" dirty="0">
                <a:solidFill>
                  <a:srgbClr val="FFFFFF"/>
                </a:solidFill>
                <a:latin typeface="Georgia" pitchFamily="34" charset="0"/>
                <a:ea typeface="Georgia" pitchFamily="34" charset="-122"/>
                <a:cs typeface="Georgia" pitchFamily="34" charset="-120"/>
              </a:rPr>
              <a:t>BRIGHT TV</a:t>
            </a:r>
            <a:endParaRPr lang="en-US" sz="2800" dirty="0"/>
          </a:p>
        </p:txBody>
      </p:sp>
      <p:sp>
        <p:nvSpPr>
          <p:cNvPr id="7" name="Text 5"/>
          <p:cNvSpPr/>
          <p:nvPr/>
        </p:nvSpPr>
        <p:spPr>
          <a:xfrm>
            <a:off x="548640" y="2468880"/>
            <a:ext cx="10972800" cy="1280160"/>
          </a:xfrm>
          <a:prstGeom prst="rect">
            <a:avLst/>
          </a:prstGeom>
          <a:noFill/>
          <a:ln/>
        </p:spPr>
        <p:txBody>
          <a:bodyPr wrap="square" rtlCol="0" anchor="ctr"/>
          <a:lstStyle/>
          <a:p>
            <a:pPr marL="0" indent="0">
              <a:buNone/>
            </a:pPr>
            <a:r>
              <a:rPr lang="en-US" sz="6000" b="1" dirty="0">
                <a:solidFill>
                  <a:srgbClr val="FFFFFF"/>
                </a:solidFill>
                <a:latin typeface="Georgia" pitchFamily="34" charset="0"/>
                <a:ea typeface="Georgia" pitchFamily="34" charset="-122"/>
                <a:cs typeface="Georgia" pitchFamily="34" charset="-120"/>
              </a:rPr>
              <a:t>VIEWERSHIP ANALYSIS</a:t>
            </a:r>
            <a:endParaRPr lang="en-US" sz="6000" dirty="0"/>
          </a:p>
        </p:txBody>
      </p:sp>
      <p:sp>
        <p:nvSpPr>
          <p:cNvPr id="8" name="Shape 6"/>
          <p:cNvSpPr/>
          <p:nvPr/>
        </p:nvSpPr>
        <p:spPr>
          <a:xfrm>
            <a:off x="548640" y="3794760"/>
            <a:ext cx="1097280" cy="54864"/>
          </a:xfrm>
          <a:prstGeom prst="rect">
            <a:avLst/>
          </a:prstGeom>
          <a:solidFill>
            <a:srgbClr val="F28C28"/>
          </a:solidFill>
          <a:ln w="12700">
            <a:solidFill>
              <a:srgbClr val="F28C28"/>
            </a:solidFill>
            <a:prstDash val="solid"/>
          </a:ln>
        </p:spPr>
      </p:sp>
      <p:sp>
        <p:nvSpPr>
          <p:cNvPr id="9" name="Text 7"/>
          <p:cNvSpPr/>
          <p:nvPr/>
        </p:nvSpPr>
        <p:spPr>
          <a:xfrm>
            <a:off x="548640" y="3931920"/>
            <a:ext cx="10972800" cy="457200"/>
          </a:xfrm>
          <a:prstGeom prst="rect">
            <a:avLst/>
          </a:prstGeom>
          <a:noFill/>
          <a:ln/>
        </p:spPr>
        <p:txBody>
          <a:bodyPr wrap="square" rtlCol="0" anchor="ctr"/>
          <a:lstStyle/>
          <a:p>
            <a:pPr marL="0" indent="0">
              <a:buNone/>
            </a:pPr>
            <a:r>
              <a:rPr lang="en-US" sz="2000" i="1" dirty="0">
                <a:solidFill>
                  <a:srgbClr val="EAEAEA"/>
                </a:solidFill>
                <a:latin typeface="Calibri" pitchFamily="34" charset="0"/>
                <a:ea typeface="Calibri" pitchFamily="34" charset="-122"/>
                <a:cs typeface="Calibri" pitchFamily="34" charset="-120"/>
              </a:rPr>
              <a:t>Customer Value Management (CVM) Insights &amp; Growth Recommendations</a:t>
            </a:r>
            <a:endParaRPr lang="en-US" sz="2000" dirty="0"/>
          </a:p>
        </p:txBody>
      </p:sp>
      <p:sp>
        <p:nvSpPr>
          <p:cNvPr id="10" name="Shape 8"/>
          <p:cNvSpPr/>
          <p:nvPr/>
        </p:nvSpPr>
        <p:spPr>
          <a:xfrm>
            <a:off x="548640" y="4846320"/>
            <a:ext cx="2606040" cy="1188720"/>
          </a:xfrm>
          <a:prstGeom prst="roundRect">
            <a:avLst>
              <a:gd name="adj" fmla="val 7692"/>
            </a:avLst>
          </a:prstGeom>
          <a:solidFill>
            <a:srgbClr val="12244A"/>
          </a:solidFill>
          <a:ln w="9525">
            <a:solidFill>
              <a:srgbClr val="0057FF">
                <a:alpha val="40000"/>
              </a:srgbClr>
            </a:solidFill>
            <a:prstDash val="solid"/>
          </a:ln>
        </p:spPr>
      </p:sp>
      <p:sp>
        <p:nvSpPr>
          <p:cNvPr id="11" name="Text 9"/>
          <p:cNvSpPr/>
          <p:nvPr/>
        </p:nvSpPr>
        <p:spPr>
          <a:xfrm>
            <a:off x="548640" y="4892040"/>
            <a:ext cx="2606040" cy="640080"/>
          </a:xfrm>
          <a:prstGeom prst="rect">
            <a:avLst/>
          </a:prstGeom>
          <a:noFill/>
          <a:ln/>
        </p:spPr>
        <p:txBody>
          <a:bodyPr wrap="square" rtlCol="0" anchor="ctr"/>
          <a:lstStyle/>
          <a:p>
            <a:pPr marL="0" indent="0" algn="ctr">
              <a:buNone/>
            </a:pPr>
            <a:r>
              <a:rPr lang="en-US" sz="3000" b="1" dirty="0">
                <a:solidFill>
                  <a:srgbClr val="F28C28"/>
                </a:solidFill>
                <a:latin typeface="Georgia" pitchFamily="34" charset="0"/>
                <a:ea typeface="Georgia" pitchFamily="34" charset="-122"/>
                <a:cs typeface="Georgia" pitchFamily="34" charset="-120"/>
              </a:rPr>
              <a:t>1,000+</a:t>
            </a:r>
            <a:endParaRPr lang="en-US" sz="3000" dirty="0"/>
          </a:p>
        </p:txBody>
      </p:sp>
      <p:sp>
        <p:nvSpPr>
          <p:cNvPr id="12" name="Text 10"/>
          <p:cNvSpPr/>
          <p:nvPr/>
        </p:nvSpPr>
        <p:spPr>
          <a:xfrm>
            <a:off x="548640" y="5532120"/>
            <a:ext cx="2606040" cy="365760"/>
          </a:xfrm>
          <a:prstGeom prst="rect">
            <a:avLst/>
          </a:prstGeom>
          <a:noFill/>
          <a:ln/>
        </p:spPr>
        <p:txBody>
          <a:bodyPr wrap="square" rtlCol="0" anchor="ctr"/>
          <a:lstStyle/>
          <a:p>
            <a:pPr marL="0" indent="0" algn="ctr">
              <a:buNone/>
            </a:pPr>
            <a:r>
              <a:rPr lang="en-US" sz="1100" kern="0" spc="200" dirty="0">
                <a:solidFill>
                  <a:srgbClr val="FFFFFF"/>
                </a:solidFill>
                <a:latin typeface="Calibri" pitchFamily="34" charset="0"/>
                <a:ea typeface="Calibri" pitchFamily="34" charset="-122"/>
                <a:cs typeface="Calibri" pitchFamily="34" charset="-120"/>
              </a:rPr>
              <a:t>Viewer records</a:t>
            </a:r>
            <a:endParaRPr lang="en-US" sz="1100" dirty="0"/>
          </a:p>
        </p:txBody>
      </p:sp>
      <p:sp>
        <p:nvSpPr>
          <p:cNvPr id="13" name="Shape 11"/>
          <p:cNvSpPr/>
          <p:nvPr/>
        </p:nvSpPr>
        <p:spPr>
          <a:xfrm>
            <a:off x="3337560" y="4846320"/>
            <a:ext cx="2606040" cy="1188720"/>
          </a:xfrm>
          <a:prstGeom prst="roundRect">
            <a:avLst>
              <a:gd name="adj" fmla="val 7692"/>
            </a:avLst>
          </a:prstGeom>
          <a:solidFill>
            <a:srgbClr val="12244A"/>
          </a:solidFill>
          <a:ln w="9525">
            <a:solidFill>
              <a:srgbClr val="0057FF">
                <a:alpha val="40000"/>
              </a:srgbClr>
            </a:solidFill>
            <a:prstDash val="solid"/>
          </a:ln>
        </p:spPr>
      </p:sp>
      <p:sp>
        <p:nvSpPr>
          <p:cNvPr id="14" name="Text 12"/>
          <p:cNvSpPr/>
          <p:nvPr/>
        </p:nvSpPr>
        <p:spPr>
          <a:xfrm>
            <a:off x="3337560" y="4892040"/>
            <a:ext cx="2606040" cy="640080"/>
          </a:xfrm>
          <a:prstGeom prst="rect">
            <a:avLst/>
          </a:prstGeom>
          <a:noFill/>
          <a:ln/>
        </p:spPr>
        <p:txBody>
          <a:bodyPr wrap="square" rtlCol="0" anchor="ctr"/>
          <a:lstStyle/>
          <a:p>
            <a:pPr marL="0" indent="0" algn="ctr">
              <a:buNone/>
            </a:pPr>
            <a:r>
              <a:rPr lang="en-US" sz="3000" b="1" dirty="0">
                <a:solidFill>
                  <a:srgbClr val="F28C28"/>
                </a:solidFill>
                <a:latin typeface="Georgia" pitchFamily="34" charset="0"/>
                <a:ea typeface="Georgia" pitchFamily="34" charset="-122"/>
                <a:cs typeface="Georgia" pitchFamily="34" charset="-120"/>
              </a:rPr>
              <a:t>17</a:t>
            </a:r>
            <a:endParaRPr lang="en-US" sz="3000" dirty="0"/>
          </a:p>
        </p:txBody>
      </p:sp>
      <p:sp>
        <p:nvSpPr>
          <p:cNvPr id="15" name="Text 13"/>
          <p:cNvSpPr/>
          <p:nvPr/>
        </p:nvSpPr>
        <p:spPr>
          <a:xfrm>
            <a:off x="3337560" y="5532120"/>
            <a:ext cx="2606040" cy="365760"/>
          </a:xfrm>
          <a:prstGeom prst="rect">
            <a:avLst/>
          </a:prstGeom>
          <a:noFill/>
          <a:ln/>
        </p:spPr>
        <p:txBody>
          <a:bodyPr wrap="square" rtlCol="0" anchor="ctr"/>
          <a:lstStyle/>
          <a:p>
            <a:pPr marL="0" indent="0" algn="ctr">
              <a:buNone/>
            </a:pPr>
            <a:r>
              <a:rPr lang="en-US" sz="1100" kern="0" spc="200" dirty="0">
                <a:solidFill>
                  <a:srgbClr val="FFFFFF"/>
                </a:solidFill>
                <a:latin typeface="Calibri" pitchFamily="34" charset="0"/>
                <a:ea typeface="Calibri" pitchFamily="34" charset="-122"/>
                <a:cs typeface="Calibri" pitchFamily="34" charset="-120"/>
              </a:rPr>
              <a:t>Channels analysed</a:t>
            </a:r>
            <a:endParaRPr lang="en-US" sz="1100" dirty="0"/>
          </a:p>
        </p:txBody>
      </p:sp>
      <p:sp>
        <p:nvSpPr>
          <p:cNvPr id="16" name="Shape 14"/>
          <p:cNvSpPr/>
          <p:nvPr/>
        </p:nvSpPr>
        <p:spPr>
          <a:xfrm>
            <a:off x="6126480" y="4846320"/>
            <a:ext cx="2606040" cy="1188720"/>
          </a:xfrm>
          <a:prstGeom prst="roundRect">
            <a:avLst>
              <a:gd name="adj" fmla="val 7692"/>
            </a:avLst>
          </a:prstGeom>
          <a:solidFill>
            <a:srgbClr val="12244A"/>
          </a:solidFill>
          <a:ln w="9525">
            <a:solidFill>
              <a:srgbClr val="0057FF">
                <a:alpha val="40000"/>
              </a:srgbClr>
            </a:solidFill>
            <a:prstDash val="solid"/>
          </a:ln>
        </p:spPr>
      </p:sp>
      <p:sp>
        <p:nvSpPr>
          <p:cNvPr id="17" name="Text 15"/>
          <p:cNvSpPr/>
          <p:nvPr/>
        </p:nvSpPr>
        <p:spPr>
          <a:xfrm>
            <a:off x="6126480" y="4892040"/>
            <a:ext cx="2606040" cy="640080"/>
          </a:xfrm>
          <a:prstGeom prst="rect">
            <a:avLst/>
          </a:prstGeom>
          <a:noFill/>
          <a:ln/>
        </p:spPr>
        <p:txBody>
          <a:bodyPr wrap="square" rtlCol="0" anchor="ctr"/>
          <a:lstStyle/>
          <a:p>
            <a:pPr marL="0" indent="0" algn="ctr">
              <a:buNone/>
            </a:pPr>
            <a:r>
              <a:rPr lang="en-US" sz="3000" b="1" dirty="0">
                <a:solidFill>
                  <a:srgbClr val="F28C28"/>
                </a:solidFill>
                <a:latin typeface="Georgia" pitchFamily="34" charset="0"/>
                <a:ea typeface="Georgia" pitchFamily="34" charset="-122"/>
                <a:cs typeface="Georgia" pitchFamily="34" charset="-120"/>
              </a:rPr>
              <a:t>9</a:t>
            </a:r>
            <a:endParaRPr lang="en-US" sz="3000" dirty="0"/>
          </a:p>
        </p:txBody>
      </p:sp>
      <p:sp>
        <p:nvSpPr>
          <p:cNvPr id="18" name="Text 16"/>
          <p:cNvSpPr/>
          <p:nvPr/>
        </p:nvSpPr>
        <p:spPr>
          <a:xfrm>
            <a:off x="6126480" y="5532120"/>
            <a:ext cx="2606040" cy="365760"/>
          </a:xfrm>
          <a:prstGeom prst="rect">
            <a:avLst/>
          </a:prstGeom>
          <a:noFill/>
          <a:ln/>
        </p:spPr>
        <p:txBody>
          <a:bodyPr wrap="square" rtlCol="0" anchor="ctr"/>
          <a:lstStyle/>
          <a:p>
            <a:pPr marL="0" indent="0" algn="ctr">
              <a:buNone/>
            </a:pPr>
            <a:r>
              <a:rPr lang="en-US" sz="1100" kern="0" spc="200" dirty="0">
                <a:solidFill>
                  <a:srgbClr val="FFFFFF"/>
                </a:solidFill>
                <a:latin typeface="Calibri" pitchFamily="34" charset="0"/>
                <a:ea typeface="Calibri" pitchFamily="34" charset="-122"/>
                <a:cs typeface="Calibri" pitchFamily="34" charset="-120"/>
              </a:rPr>
              <a:t>Provinces covered</a:t>
            </a:r>
            <a:endParaRPr lang="en-US" sz="1100" dirty="0"/>
          </a:p>
        </p:txBody>
      </p:sp>
      <p:sp>
        <p:nvSpPr>
          <p:cNvPr id="19" name="Shape 17"/>
          <p:cNvSpPr/>
          <p:nvPr/>
        </p:nvSpPr>
        <p:spPr>
          <a:xfrm>
            <a:off x="8915400" y="4846320"/>
            <a:ext cx="2606040" cy="1188720"/>
          </a:xfrm>
          <a:prstGeom prst="roundRect">
            <a:avLst>
              <a:gd name="adj" fmla="val 7692"/>
            </a:avLst>
          </a:prstGeom>
          <a:solidFill>
            <a:srgbClr val="12244A"/>
          </a:solidFill>
          <a:ln w="9525">
            <a:solidFill>
              <a:srgbClr val="0057FF">
                <a:alpha val="40000"/>
              </a:srgbClr>
            </a:solidFill>
            <a:prstDash val="solid"/>
          </a:ln>
        </p:spPr>
      </p:sp>
      <p:sp>
        <p:nvSpPr>
          <p:cNvPr id="20" name="Text 18"/>
          <p:cNvSpPr/>
          <p:nvPr/>
        </p:nvSpPr>
        <p:spPr>
          <a:xfrm>
            <a:off x="8915400" y="4892040"/>
            <a:ext cx="2606040" cy="640080"/>
          </a:xfrm>
          <a:prstGeom prst="rect">
            <a:avLst/>
          </a:prstGeom>
          <a:noFill/>
          <a:ln/>
        </p:spPr>
        <p:txBody>
          <a:bodyPr wrap="square" rtlCol="0" anchor="ctr"/>
          <a:lstStyle/>
          <a:p>
            <a:pPr marL="0" indent="0" algn="ctr">
              <a:buNone/>
            </a:pPr>
            <a:r>
              <a:rPr lang="en-US" sz="3000" b="1" dirty="0">
                <a:solidFill>
                  <a:srgbClr val="F28C28"/>
                </a:solidFill>
                <a:latin typeface="Georgia" pitchFamily="34" charset="0"/>
                <a:ea typeface="Georgia" pitchFamily="34" charset="-122"/>
                <a:cs typeface="Georgia" pitchFamily="34" charset="-120"/>
              </a:rPr>
              <a:t>3</a:t>
            </a:r>
            <a:endParaRPr lang="en-US" sz="3000" dirty="0"/>
          </a:p>
        </p:txBody>
      </p:sp>
      <p:sp>
        <p:nvSpPr>
          <p:cNvPr id="21" name="Text 19"/>
          <p:cNvSpPr/>
          <p:nvPr/>
        </p:nvSpPr>
        <p:spPr>
          <a:xfrm>
            <a:off x="8915400" y="5532120"/>
            <a:ext cx="2606040" cy="365760"/>
          </a:xfrm>
          <a:prstGeom prst="rect">
            <a:avLst/>
          </a:prstGeom>
          <a:noFill/>
          <a:ln/>
        </p:spPr>
        <p:txBody>
          <a:bodyPr wrap="square" rtlCol="0" anchor="ctr"/>
          <a:lstStyle/>
          <a:p>
            <a:pPr marL="0" indent="0" algn="ctr">
              <a:buNone/>
            </a:pPr>
            <a:r>
              <a:rPr lang="en-US" sz="1100" kern="0" spc="200" dirty="0">
                <a:solidFill>
                  <a:srgbClr val="FFFFFF"/>
                </a:solidFill>
                <a:latin typeface="Calibri" pitchFamily="34" charset="0"/>
                <a:ea typeface="Calibri" pitchFamily="34" charset="-122"/>
                <a:cs typeface="Calibri" pitchFamily="34" charset="-120"/>
              </a:rPr>
              <a:t>Months of data</a:t>
            </a:r>
            <a:endParaRPr lang="en-US" sz="1100" dirty="0"/>
          </a:p>
        </p:txBody>
      </p:sp>
      <p:sp>
        <p:nvSpPr>
          <p:cNvPr id="22" name="Text 20"/>
          <p:cNvSpPr/>
          <p:nvPr/>
        </p:nvSpPr>
        <p:spPr>
          <a:xfrm>
            <a:off x="548640" y="6400800"/>
            <a:ext cx="10972800" cy="320040"/>
          </a:xfrm>
          <a:prstGeom prst="rect">
            <a:avLst/>
          </a:prstGeom>
          <a:noFill/>
          <a:ln/>
        </p:spPr>
        <p:txBody>
          <a:bodyPr wrap="square" rtlCol="0" anchor="ctr"/>
          <a:lstStyle/>
          <a:p>
            <a:pPr marL="0" indent="0">
              <a:buNone/>
            </a:pPr>
            <a:r>
              <a:rPr lang="en-US" sz="1000" kern="0" spc="300" dirty="0">
                <a:solidFill>
                  <a:srgbClr val="9AA6BF"/>
                </a:solidFill>
                <a:latin typeface="Calibri" pitchFamily="34" charset="0"/>
                <a:ea typeface="Calibri" pitchFamily="34" charset="-122"/>
                <a:cs typeface="Calibri" pitchFamily="34" charset="-120"/>
              </a:rPr>
              <a:t>Prepared for the CEO &amp; Senior Management  |  Bright TV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PROJECT OVERVIEW</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Bright TV Viewership — Project Plan</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sp>
        <p:nvSpPr>
          <p:cNvPr id="11" name="Shape 9"/>
          <p:cNvSpPr/>
          <p:nvPr/>
        </p:nvSpPr>
        <p:spPr>
          <a:xfrm>
            <a:off x="548640" y="1554480"/>
            <a:ext cx="1508760" cy="3840480"/>
          </a:xfrm>
          <a:prstGeom prst="roundRect">
            <a:avLst>
              <a:gd name="adj" fmla="val 6061"/>
            </a:avLst>
          </a:prstGeom>
          <a:solidFill>
            <a:srgbClr val="12244A"/>
          </a:solidFill>
          <a:ln w="9525">
            <a:solidFill>
              <a:srgbClr val="0057FF">
                <a:alpha val="40000"/>
              </a:srgbClr>
            </a:solidFill>
            <a:prstDash val="solid"/>
          </a:ln>
        </p:spPr>
      </p:sp>
      <p:sp>
        <p:nvSpPr>
          <p:cNvPr id="12" name="Shape 10"/>
          <p:cNvSpPr/>
          <p:nvPr/>
        </p:nvSpPr>
        <p:spPr>
          <a:xfrm>
            <a:off x="548640" y="1554480"/>
            <a:ext cx="1508760" cy="137160"/>
          </a:xfrm>
          <a:prstGeom prst="rect">
            <a:avLst/>
          </a:prstGeom>
          <a:solidFill>
            <a:srgbClr val="0057FF"/>
          </a:solidFill>
          <a:ln w="12700">
            <a:solidFill>
              <a:srgbClr val="0057FF"/>
            </a:solidFill>
            <a:prstDash val="solid"/>
          </a:ln>
        </p:spPr>
      </p:sp>
      <p:sp>
        <p:nvSpPr>
          <p:cNvPr id="13" name="Text 11"/>
          <p:cNvSpPr/>
          <p:nvPr/>
        </p:nvSpPr>
        <p:spPr>
          <a:xfrm>
            <a:off x="548640" y="1828800"/>
            <a:ext cx="1508760" cy="640080"/>
          </a:xfrm>
          <a:prstGeom prst="rect">
            <a:avLst/>
          </a:prstGeom>
          <a:noFill/>
          <a:ln/>
        </p:spPr>
        <p:txBody>
          <a:bodyPr wrap="square" rtlCol="0" anchor="ctr"/>
          <a:lstStyle/>
          <a:p>
            <a:pPr marL="0" indent="0" algn="ctr">
              <a:buNone/>
            </a:pPr>
            <a:r>
              <a:rPr lang="en-US" sz="3400" b="1" dirty="0">
                <a:solidFill>
                  <a:srgbClr val="F28C28"/>
                </a:solidFill>
                <a:latin typeface="Georgia" pitchFamily="34" charset="0"/>
                <a:ea typeface="Georgia" pitchFamily="34" charset="-122"/>
                <a:cs typeface="Georgia" pitchFamily="34" charset="-120"/>
              </a:rPr>
              <a:t>01</a:t>
            </a:r>
            <a:endParaRPr lang="en-US" sz="3400" dirty="0"/>
          </a:p>
        </p:txBody>
      </p:sp>
      <p:sp>
        <p:nvSpPr>
          <p:cNvPr id="14" name="Text 12"/>
          <p:cNvSpPr/>
          <p:nvPr/>
        </p:nvSpPr>
        <p:spPr>
          <a:xfrm>
            <a:off x="640080" y="2651760"/>
            <a:ext cx="1325880" cy="1463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Problem Statement</a:t>
            </a:r>
            <a:endParaRPr lang="en-US" sz="1300" dirty="0"/>
          </a:p>
        </p:txBody>
      </p:sp>
      <p:sp>
        <p:nvSpPr>
          <p:cNvPr id="15" name="Text 13"/>
          <p:cNvSpPr/>
          <p:nvPr/>
        </p:nvSpPr>
        <p:spPr>
          <a:xfrm>
            <a:off x="640080" y="4572000"/>
            <a:ext cx="1325880" cy="365760"/>
          </a:xfrm>
          <a:prstGeom prst="rect">
            <a:avLst/>
          </a:prstGeom>
          <a:noFill/>
          <a:ln/>
        </p:spPr>
        <p:txBody>
          <a:bodyPr wrap="square" rtlCol="0" anchor="ctr"/>
          <a:lstStyle/>
          <a:p>
            <a:pPr marL="0" indent="0" algn="ctr">
              <a:buNone/>
            </a:pPr>
            <a:r>
              <a:rPr lang="en-US" sz="1000" kern="0" spc="200" dirty="0">
                <a:solidFill>
                  <a:srgbClr val="F28C28"/>
                </a:solidFill>
                <a:latin typeface="Calibri" pitchFamily="34" charset="0"/>
                <a:ea typeface="Calibri" pitchFamily="34" charset="-122"/>
                <a:cs typeface="Calibri" pitchFamily="34" charset="-120"/>
              </a:rPr>
              <a:t>W1 · 1 day</a:t>
            </a:r>
            <a:endParaRPr lang="en-US" sz="1000" dirty="0"/>
          </a:p>
        </p:txBody>
      </p:sp>
      <p:sp>
        <p:nvSpPr>
          <p:cNvPr id="16" name="Shape 14"/>
          <p:cNvSpPr/>
          <p:nvPr/>
        </p:nvSpPr>
        <p:spPr>
          <a:xfrm>
            <a:off x="2148840" y="1554480"/>
            <a:ext cx="1508760" cy="3840480"/>
          </a:xfrm>
          <a:prstGeom prst="roundRect">
            <a:avLst>
              <a:gd name="adj" fmla="val 6061"/>
            </a:avLst>
          </a:prstGeom>
          <a:solidFill>
            <a:srgbClr val="12244A"/>
          </a:solidFill>
          <a:ln w="9525">
            <a:solidFill>
              <a:srgbClr val="0057FF">
                <a:alpha val="40000"/>
              </a:srgbClr>
            </a:solidFill>
            <a:prstDash val="solid"/>
          </a:ln>
        </p:spPr>
      </p:sp>
      <p:sp>
        <p:nvSpPr>
          <p:cNvPr id="17" name="Shape 15"/>
          <p:cNvSpPr/>
          <p:nvPr/>
        </p:nvSpPr>
        <p:spPr>
          <a:xfrm>
            <a:off x="2148840" y="1554480"/>
            <a:ext cx="1508760" cy="137160"/>
          </a:xfrm>
          <a:prstGeom prst="rect">
            <a:avLst/>
          </a:prstGeom>
          <a:solidFill>
            <a:srgbClr val="0057FF"/>
          </a:solidFill>
          <a:ln w="12700">
            <a:solidFill>
              <a:srgbClr val="0057FF"/>
            </a:solidFill>
            <a:prstDash val="solid"/>
          </a:ln>
        </p:spPr>
      </p:sp>
      <p:sp>
        <p:nvSpPr>
          <p:cNvPr id="18" name="Text 16"/>
          <p:cNvSpPr/>
          <p:nvPr/>
        </p:nvSpPr>
        <p:spPr>
          <a:xfrm>
            <a:off x="2148840" y="1828800"/>
            <a:ext cx="1508760" cy="640080"/>
          </a:xfrm>
          <a:prstGeom prst="rect">
            <a:avLst/>
          </a:prstGeom>
          <a:noFill/>
          <a:ln/>
        </p:spPr>
        <p:txBody>
          <a:bodyPr wrap="square" rtlCol="0" anchor="ctr"/>
          <a:lstStyle/>
          <a:p>
            <a:pPr marL="0" indent="0" algn="ctr">
              <a:buNone/>
            </a:pPr>
            <a:r>
              <a:rPr lang="en-US" sz="3400" b="1" dirty="0">
                <a:solidFill>
                  <a:srgbClr val="F28C28"/>
                </a:solidFill>
                <a:latin typeface="Georgia" pitchFamily="34" charset="0"/>
                <a:ea typeface="Georgia" pitchFamily="34" charset="-122"/>
                <a:cs typeface="Georgia" pitchFamily="34" charset="-120"/>
              </a:rPr>
              <a:t>02</a:t>
            </a:r>
            <a:endParaRPr lang="en-US" sz="3400" dirty="0"/>
          </a:p>
        </p:txBody>
      </p:sp>
      <p:sp>
        <p:nvSpPr>
          <p:cNvPr id="19" name="Text 17"/>
          <p:cNvSpPr/>
          <p:nvPr/>
        </p:nvSpPr>
        <p:spPr>
          <a:xfrm>
            <a:off x="2240280" y="2651760"/>
            <a:ext cx="1325880" cy="1463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 Inspection (EDA)</a:t>
            </a:r>
            <a:endParaRPr lang="en-US" sz="1300" dirty="0"/>
          </a:p>
        </p:txBody>
      </p:sp>
      <p:sp>
        <p:nvSpPr>
          <p:cNvPr id="20" name="Text 18"/>
          <p:cNvSpPr/>
          <p:nvPr/>
        </p:nvSpPr>
        <p:spPr>
          <a:xfrm>
            <a:off x="2240280" y="4572000"/>
            <a:ext cx="1325880" cy="365760"/>
          </a:xfrm>
          <a:prstGeom prst="rect">
            <a:avLst/>
          </a:prstGeom>
          <a:noFill/>
          <a:ln/>
        </p:spPr>
        <p:txBody>
          <a:bodyPr wrap="square" rtlCol="0" anchor="ctr"/>
          <a:lstStyle/>
          <a:p>
            <a:pPr marL="0" indent="0" algn="ctr">
              <a:buNone/>
            </a:pPr>
            <a:r>
              <a:rPr lang="en-US" sz="1000" kern="0" spc="200" dirty="0">
                <a:solidFill>
                  <a:srgbClr val="F28C28"/>
                </a:solidFill>
                <a:latin typeface="Calibri" pitchFamily="34" charset="0"/>
                <a:ea typeface="Calibri" pitchFamily="34" charset="-122"/>
                <a:cs typeface="Calibri" pitchFamily="34" charset="-120"/>
              </a:rPr>
              <a:t>W1 · 1 day</a:t>
            </a:r>
            <a:endParaRPr lang="en-US" sz="1000" dirty="0"/>
          </a:p>
        </p:txBody>
      </p:sp>
      <p:sp>
        <p:nvSpPr>
          <p:cNvPr id="21" name="Shape 19"/>
          <p:cNvSpPr/>
          <p:nvPr/>
        </p:nvSpPr>
        <p:spPr>
          <a:xfrm>
            <a:off x="3749040" y="1554480"/>
            <a:ext cx="1508760" cy="3840480"/>
          </a:xfrm>
          <a:prstGeom prst="roundRect">
            <a:avLst>
              <a:gd name="adj" fmla="val 6061"/>
            </a:avLst>
          </a:prstGeom>
          <a:solidFill>
            <a:srgbClr val="12244A"/>
          </a:solidFill>
          <a:ln w="9525">
            <a:solidFill>
              <a:srgbClr val="0057FF">
                <a:alpha val="40000"/>
              </a:srgbClr>
            </a:solidFill>
            <a:prstDash val="solid"/>
          </a:ln>
        </p:spPr>
      </p:sp>
      <p:sp>
        <p:nvSpPr>
          <p:cNvPr id="22" name="Shape 20"/>
          <p:cNvSpPr/>
          <p:nvPr/>
        </p:nvSpPr>
        <p:spPr>
          <a:xfrm>
            <a:off x="3749040" y="1554480"/>
            <a:ext cx="1508760" cy="137160"/>
          </a:xfrm>
          <a:prstGeom prst="rect">
            <a:avLst/>
          </a:prstGeom>
          <a:solidFill>
            <a:srgbClr val="0057FF"/>
          </a:solidFill>
          <a:ln w="12700">
            <a:solidFill>
              <a:srgbClr val="0057FF"/>
            </a:solidFill>
            <a:prstDash val="solid"/>
          </a:ln>
        </p:spPr>
      </p:sp>
      <p:sp>
        <p:nvSpPr>
          <p:cNvPr id="23" name="Text 21"/>
          <p:cNvSpPr/>
          <p:nvPr/>
        </p:nvSpPr>
        <p:spPr>
          <a:xfrm>
            <a:off x="3749040" y="1828800"/>
            <a:ext cx="1508760" cy="640080"/>
          </a:xfrm>
          <a:prstGeom prst="rect">
            <a:avLst/>
          </a:prstGeom>
          <a:noFill/>
          <a:ln/>
        </p:spPr>
        <p:txBody>
          <a:bodyPr wrap="square" rtlCol="0" anchor="ctr"/>
          <a:lstStyle/>
          <a:p>
            <a:pPr marL="0" indent="0" algn="ctr">
              <a:buNone/>
            </a:pPr>
            <a:r>
              <a:rPr lang="en-US" sz="3400" b="1" dirty="0">
                <a:solidFill>
                  <a:srgbClr val="F28C28"/>
                </a:solidFill>
                <a:latin typeface="Georgia" pitchFamily="34" charset="0"/>
                <a:ea typeface="Georgia" pitchFamily="34" charset="-122"/>
                <a:cs typeface="Georgia" pitchFamily="34" charset="-120"/>
              </a:rPr>
              <a:t>03</a:t>
            </a:r>
            <a:endParaRPr lang="en-US" sz="3400" dirty="0"/>
          </a:p>
        </p:txBody>
      </p:sp>
      <p:sp>
        <p:nvSpPr>
          <p:cNvPr id="24" name="Text 22"/>
          <p:cNvSpPr/>
          <p:nvPr/>
        </p:nvSpPr>
        <p:spPr>
          <a:xfrm>
            <a:off x="3840480" y="2651760"/>
            <a:ext cx="1325880" cy="1463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Data-Driven Questions</a:t>
            </a:r>
            <a:endParaRPr lang="en-US" sz="1300" dirty="0"/>
          </a:p>
        </p:txBody>
      </p:sp>
      <p:sp>
        <p:nvSpPr>
          <p:cNvPr id="25" name="Text 23"/>
          <p:cNvSpPr/>
          <p:nvPr/>
        </p:nvSpPr>
        <p:spPr>
          <a:xfrm>
            <a:off x="3840480" y="4572000"/>
            <a:ext cx="1325880" cy="365760"/>
          </a:xfrm>
          <a:prstGeom prst="rect">
            <a:avLst/>
          </a:prstGeom>
          <a:noFill/>
          <a:ln/>
        </p:spPr>
        <p:txBody>
          <a:bodyPr wrap="square" rtlCol="0" anchor="ctr"/>
          <a:lstStyle/>
          <a:p>
            <a:pPr marL="0" indent="0" algn="ctr">
              <a:buNone/>
            </a:pPr>
            <a:r>
              <a:rPr lang="en-US" sz="1000" kern="0" spc="200" dirty="0">
                <a:solidFill>
                  <a:srgbClr val="F28C28"/>
                </a:solidFill>
                <a:latin typeface="Calibri" pitchFamily="34" charset="0"/>
                <a:ea typeface="Calibri" pitchFamily="34" charset="-122"/>
                <a:cs typeface="Calibri" pitchFamily="34" charset="-120"/>
              </a:rPr>
              <a:t>W1 · 1 day</a:t>
            </a:r>
            <a:endParaRPr lang="en-US" sz="1000" dirty="0"/>
          </a:p>
        </p:txBody>
      </p:sp>
      <p:sp>
        <p:nvSpPr>
          <p:cNvPr id="26" name="Shape 24"/>
          <p:cNvSpPr/>
          <p:nvPr/>
        </p:nvSpPr>
        <p:spPr>
          <a:xfrm>
            <a:off x="5349240" y="1554480"/>
            <a:ext cx="1508760" cy="3840480"/>
          </a:xfrm>
          <a:prstGeom prst="roundRect">
            <a:avLst>
              <a:gd name="adj" fmla="val 6061"/>
            </a:avLst>
          </a:prstGeom>
          <a:solidFill>
            <a:srgbClr val="12244A"/>
          </a:solidFill>
          <a:ln w="9525">
            <a:solidFill>
              <a:srgbClr val="0057FF">
                <a:alpha val="40000"/>
              </a:srgbClr>
            </a:solidFill>
            <a:prstDash val="solid"/>
          </a:ln>
        </p:spPr>
      </p:sp>
      <p:sp>
        <p:nvSpPr>
          <p:cNvPr id="27" name="Shape 25"/>
          <p:cNvSpPr/>
          <p:nvPr/>
        </p:nvSpPr>
        <p:spPr>
          <a:xfrm>
            <a:off x="5349240" y="1554480"/>
            <a:ext cx="1508760" cy="137160"/>
          </a:xfrm>
          <a:prstGeom prst="rect">
            <a:avLst/>
          </a:prstGeom>
          <a:solidFill>
            <a:srgbClr val="0057FF"/>
          </a:solidFill>
          <a:ln w="12700">
            <a:solidFill>
              <a:srgbClr val="0057FF"/>
            </a:solidFill>
            <a:prstDash val="solid"/>
          </a:ln>
        </p:spPr>
      </p:sp>
      <p:sp>
        <p:nvSpPr>
          <p:cNvPr id="28" name="Text 26"/>
          <p:cNvSpPr/>
          <p:nvPr/>
        </p:nvSpPr>
        <p:spPr>
          <a:xfrm>
            <a:off x="5349240" y="1828800"/>
            <a:ext cx="1508760" cy="640080"/>
          </a:xfrm>
          <a:prstGeom prst="rect">
            <a:avLst/>
          </a:prstGeom>
          <a:noFill/>
          <a:ln/>
        </p:spPr>
        <p:txBody>
          <a:bodyPr wrap="square" rtlCol="0" anchor="ctr"/>
          <a:lstStyle/>
          <a:p>
            <a:pPr marL="0" indent="0" algn="ctr">
              <a:buNone/>
            </a:pPr>
            <a:r>
              <a:rPr lang="en-US" sz="3400" b="1" dirty="0">
                <a:solidFill>
                  <a:srgbClr val="F28C28"/>
                </a:solidFill>
                <a:latin typeface="Georgia" pitchFamily="34" charset="0"/>
                <a:ea typeface="Georgia" pitchFamily="34" charset="-122"/>
                <a:cs typeface="Georgia" pitchFamily="34" charset="-120"/>
              </a:rPr>
              <a:t>04</a:t>
            </a:r>
            <a:endParaRPr lang="en-US" sz="3400" dirty="0"/>
          </a:p>
        </p:txBody>
      </p:sp>
      <p:sp>
        <p:nvSpPr>
          <p:cNvPr id="29" name="Text 27"/>
          <p:cNvSpPr/>
          <p:nvPr/>
        </p:nvSpPr>
        <p:spPr>
          <a:xfrm>
            <a:off x="5440680" y="2651760"/>
            <a:ext cx="1325880" cy="1463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 Cleaning &amp; SQL</a:t>
            </a:r>
            <a:endParaRPr lang="en-US" sz="1300" dirty="0"/>
          </a:p>
        </p:txBody>
      </p:sp>
      <p:sp>
        <p:nvSpPr>
          <p:cNvPr id="30" name="Text 28"/>
          <p:cNvSpPr/>
          <p:nvPr/>
        </p:nvSpPr>
        <p:spPr>
          <a:xfrm>
            <a:off x="5440680" y="4572000"/>
            <a:ext cx="1325880" cy="365760"/>
          </a:xfrm>
          <a:prstGeom prst="rect">
            <a:avLst/>
          </a:prstGeom>
          <a:noFill/>
          <a:ln/>
        </p:spPr>
        <p:txBody>
          <a:bodyPr wrap="square" rtlCol="0" anchor="ctr"/>
          <a:lstStyle/>
          <a:p>
            <a:pPr marL="0" indent="0" algn="ctr">
              <a:buNone/>
            </a:pPr>
            <a:r>
              <a:rPr lang="en-US" sz="1000" kern="0" spc="200" dirty="0">
                <a:solidFill>
                  <a:srgbClr val="F28C28"/>
                </a:solidFill>
                <a:latin typeface="Calibri" pitchFamily="34" charset="0"/>
                <a:ea typeface="Calibri" pitchFamily="34" charset="-122"/>
                <a:cs typeface="Calibri" pitchFamily="34" charset="-120"/>
              </a:rPr>
              <a:t>W2 · 5 days</a:t>
            </a:r>
            <a:endParaRPr lang="en-US" sz="1000" dirty="0"/>
          </a:p>
        </p:txBody>
      </p:sp>
      <p:sp>
        <p:nvSpPr>
          <p:cNvPr id="31" name="Shape 29"/>
          <p:cNvSpPr/>
          <p:nvPr/>
        </p:nvSpPr>
        <p:spPr>
          <a:xfrm>
            <a:off x="6949440" y="1554480"/>
            <a:ext cx="1508760" cy="3840480"/>
          </a:xfrm>
          <a:prstGeom prst="roundRect">
            <a:avLst>
              <a:gd name="adj" fmla="val 6061"/>
            </a:avLst>
          </a:prstGeom>
          <a:solidFill>
            <a:srgbClr val="12244A"/>
          </a:solidFill>
          <a:ln w="9525">
            <a:solidFill>
              <a:srgbClr val="0057FF">
                <a:alpha val="40000"/>
              </a:srgbClr>
            </a:solidFill>
            <a:prstDash val="solid"/>
          </a:ln>
        </p:spPr>
      </p:sp>
      <p:sp>
        <p:nvSpPr>
          <p:cNvPr id="32" name="Shape 30"/>
          <p:cNvSpPr/>
          <p:nvPr/>
        </p:nvSpPr>
        <p:spPr>
          <a:xfrm>
            <a:off x="6949440" y="1554480"/>
            <a:ext cx="1508760" cy="137160"/>
          </a:xfrm>
          <a:prstGeom prst="rect">
            <a:avLst/>
          </a:prstGeom>
          <a:solidFill>
            <a:srgbClr val="0057FF"/>
          </a:solidFill>
          <a:ln w="12700">
            <a:solidFill>
              <a:srgbClr val="0057FF"/>
            </a:solidFill>
            <a:prstDash val="solid"/>
          </a:ln>
        </p:spPr>
      </p:sp>
      <p:sp>
        <p:nvSpPr>
          <p:cNvPr id="33" name="Text 31"/>
          <p:cNvSpPr/>
          <p:nvPr/>
        </p:nvSpPr>
        <p:spPr>
          <a:xfrm>
            <a:off x="6949440" y="1828800"/>
            <a:ext cx="1508760" cy="640080"/>
          </a:xfrm>
          <a:prstGeom prst="rect">
            <a:avLst/>
          </a:prstGeom>
          <a:noFill/>
          <a:ln/>
        </p:spPr>
        <p:txBody>
          <a:bodyPr wrap="square" rtlCol="0" anchor="ctr"/>
          <a:lstStyle/>
          <a:p>
            <a:pPr marL="0" indent="0" algn="ctr">
              <a:buNone/>
            </a:pPr>
            <a:r>
              <a:rPr lang="en-US" sz="3400" b="1" dirty="0">
                <a:solidFill>
                  <a:srgbClr val="F28C28"/>
                </a:solidFill>
                <a:latin typeface="Georgia" pitchFamily="34" charset="0"/>
                <a:ea typeface="Georgia" pitchFamily="34" charset="-122"/>
                <a:cs typeface="Georgia" pitchFamily="34" charset="-120"/>
              </a:rPr>
              <a:t>05</a:t>
            </a:r>
            <a:endParaRPr lang="en-US" sz="3400" dirty="0"/>
          </a:p>
        </p:txBody>
      </p:sp>
      <p:sp>
        <p:nvSpPr>
          <p:cNvPr id="34" name="Text 32"/>
          <p:cNvSpPr/>
          <p:nvPr/>
        </p:nvSpPr>
        <p:spPr>
          <a:xfrm>
            <a:off x="7040880" y="2651760"/>
            <a:ext cx="1325880" cy="1463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Dashboards Creation</a:t>
            </a:r>
            <a:endParaRPr lang="en-US" sz="1300" dirty="0"/>
          </a:p>
        </p:txBody>
      </p:sp>
      <p:sp>
        <p:nvSpPr>
          <p:cNvPr id="35" name="Text 33"/>
          <p:cNvSpPr/>
          <p:nvPr/>
        </p:nvSpPr>
        <p:spPr>
          <a:xfrm>
            <a:off x="7040880" y="4572000"/>
            <a:ext cx="1325880" cy="365760"/>
          </a:xfrm>
          <a:prstGeom prst="rect">
            <a:avLst/>
          </a:prstGeom>
          <a:noFill/>
          <a:ln/>
        </p:spPr>
        <p:txBody>
          <a:bodyPr wrap="square" rtlCol="0" anchor="ctr"/>
          <a:lstStyle/>
          <a:p>
            <a:pPr marL="0" indent="0" algn="ctr">
              <a:buNone/>
            </a:pPr>
            <a:r>
              <a:rPr lang="en-US" sz="1000" kern="0" spc="200" dirty="0">
                <a:solidFill>
                  <a:srgbClr val="F28C28"/>
                </a:solidFill>
                <a:latin typeface="Calibri" pitchFamily="34" charset="0"/>
                <a:ea typeface="Calibri" pitchFamily="34" charset="-122"/>
                <a:cs typeface="Calibri" pitchFamily="34" charset="-120"/>
              </a:rPr>
              <a:t>W2 · 2 days</a:t>
            </a:r>
            <a:endParaRPr lang="en-US" sz="1000" dirty="0"/>
          </a:p>
        </p:txBody>
      </p:sp>
      <p:sp>
        <p:nvSpPr>
          <p:cNvPr id="36" name="Shape 34"/>
          <p:cNvSpPr/>
          <p:nvPr/>
        </p:nvSpPr>
        <p:spPr>
          <a:xfrm>
            <a:off x="8549640" y="1554480"/>
            <a:ext cx="1508760" cy="3840480"/>
          </a:xfrm>
          <a:prstGeom prst="roundRect">
            <a:avLst>
              <a:gd name="adj" fmla="val 6061"/>
            </a:avLst>
          </a:prstGeom>
          <a:solidFill>
            <a:srgbClr val="12244A"/>
          </a:solidFill>
          <a:ln w="9525">
            <a:solidFill>
              <a:srgbClr val="0057FF">
                <a:alpha val="40000"/>
              </a:srgbClr>
            </a:solidFill>
            <a:prstDash val="solid"/>
          </a:ln>
        </p:spPr>
      </p:sp>
      <p:sp>
        <p:nvSpPr>
          <p:cNvPr id="37" name="Shape 35"/>
          <p:cNvSpPr/>
          <p:nvPr/>
        </p:nvSpPr>
        <p:spPr>
          <a:xfrm>
            <a:off x="8549640" y="1554480"/>
            <a:ext cx="1508760" cy="137160"/>
          </a:xfrm>
          <a:prstGeom prst="rect">
            <a:avLst/>
          </a:prstGeom>
          <a:solidFill>
            <a:srgbClr val="0057FF"/>
          </a:solidFill>
          <a:ln w="12700">
            <a:solidFill>
              <a:srgbClr val="0057FF"/>
            </a:solidFill>
            <a:prstDash val="solid"/>
          </a:ln>
        </p:spPr>
      </p:sp>
      <p:sp>
        <p:nvSpPr>
          <p:cNvPr id="38" name="Text 36"/>
          <p:cNvSpPr/>
          <p:nvPr/>
        </p:nvSpPr>
        <p:spPr>
          <a:xfrm>
            <a:off x="8549640" y="1828800"/>
            <a:ext cx="1508760" cy="640080"/>
          </a:xfrm>
          <a:prstGeom prst="rect">
            <a:avLst/>
          </a:prstGeom>
          <a:noFill/>
          <a:ln/>
        </p:spPr>
        <p:txBody>
          <a:bodyPr wrap="square" rtlCol="0" anchor="ctr"/>
          <a:lstStyle/>
          <a:p>
            <a:pPr marL="0" indent="0" algn="ctr">
              <a:buNone/>
            </a:pPr>
            <a:r>
              <a:rPr lang="en-US" sz="3400" b="1" dirty="0">
                <a:solidFill>
                  <a:srgbClr val="F28C28"/>
                </a:solidFill>
                <a:latin typeface="Georgia" pitchFamily="34" charset="0"/>
                <a:ea typeface="Georgia" pitchFamily="34" charset="-122"/>
                <a:cs typeface="Georgia" pitchFamily="34" charset="-120"/>
              </a:rPr>
              <a:t>06</a:t>
            </a:r>
            <a:endParaRPr lang="en-US" sz="3400" dirty="0"/>
          </a:p>
        </p:txBody>
      </p:sp>
      <p:sp>
        <p:nvSpPr>
          <p:cNvPr id="39" name="Text 37"/>
          <p:cNvSpPr/>
          <p:nvPr/>
        </p:nvSpPr>
        <p:spPr>
          <a:xfrm>
            <a:off x="8641080" y="2651760"/>
            <a:ext cx="1325880" cy="1463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Drawing Insights</a:t>
            </a:r>
            <a:endParaRPr lang="en-US" sz="1300" dirty="0"/>
          </a:p>
        </p:txBody>
      </p:sp>
      <p:sp>
        <p:nvSpPr>
          <p:cNvPr id="40" name="Text 38"/>
          <p:cNvSpPr/>
          <p:nvPr/>
        </p:nvSpPr>
        <p:spPr>
          <a:xfrm>
            <a:off x="8641080" y="4572000"/>
            <a:ext cx="1325880" cy="365760"/>
          </a:xfrm>
          <a:prstGeom prst="rect">
            <a:avLst/>
          </a:prstGeom>
          <a:noFill/>
          <a:ln/>
        </p:spPr>
        <p:txBody>
          <a:bodyPr wrap="square" rtlCol="0" anchor="ctr"/>
          <a:lstStyle/>
          <a:p>
            <a:pPr marL="0" indent="0" algn="ctr">
              <a:buNone/>
            </a:pPr>
            <a:r>
              <a:rPr lang="en-US" sz="1000" kern="0" spc="200" dirty="0">
                <a:solidFill>
                  <a:srgbClr val="F28C28"/>
                </a:solidFill>
                <a:latin typeface="Calibri" pitchFamily="34" charset="0"/>
                <a:ea typeface="Calibri" pitchFamily="34" charset="-122"/>
                <a:cs typeface="Calibri" pitchFamily="34" charset="-120"/>
              </a:rPr>
              <a:t>W3 · 1 day</a:t>
            </a:r>
            <a:endParaRPr lang="en-US" sz="1000" dirty="0"/>
          </a:p>
        </p:txBody>
      </p:sp>
      <p:sp>
        <p:nvSpPr>
          <p:cNvPr id="41" name="Shape 39"/>
          <p:cNvSpPr/>
          <p:nvPr/>
        </p:nvSpPr>
        <p:spPr>
          <a:xfrm>
            <a:off x="10149840" y="1554480"/>
            <a:ext cx="1508760" cy="3840480"/>
          </a:xfrm>
          <a:prstGeom prst="roundRect">
            <a:avLst>
              <a:gd name="adj" fmla="val 6061"/>
            </a:avLst>
          </a:prstGeom>
          <a:solidFill>
            <a:srgbClr val="12244A"/>
          </a:solidFill>
          <a:ln w="9525">
            <a:solidFill>
              <a:srgbClr val="0057FF">
                <a:alpha val="40000"/>
              </a:srgbClr>
            </a:solidFill>
            <a:prstDash val="solid"/>
          </a:ln>
        </p:spPr>
      </p:sp>
      <p:sp>
        <p:nvSpPr>
          <p:cNvPr id="42" name="Shape 40"/>
          <p:cNvSpPr/>
          <p:nvPr/>
        </p:nvSpPr>
        <p:spPr>
          <a:xfrm>
            <a:off x="10149840" y="1554480"/>
            <a:ext cx="1508760" cy="137160"/>
          </a:xfrm>
          <a:prstGeom prst="rect">
            <a:avLst/>
          </a:prstGeom>
          <a:solidFill>
            <a:srgbClr val="F28C28"/>
          </a:solidFill>
          <a:ln w="12700">
            <a:solidFill>
              <a:srgbClr val="F28C28"/>
            </a:solidFill>
            <a:prstDash val="solid"/>
          </a:ln>
        </p:spPr>
      </p:sp>
      <p:sp>
        <p:nvSpPr>
          <p:cNvPr id="43" name="Text 41"/>
          <p:cNvSpPr/>
          <p:nvPr/>
        </p:nvSpPr>
        <p:spPr>
          <a:xfrm>
            <a:off x="10149840" y="1828800"/>
            <a:ext cx="1508760" cy="640080"/>
          </a:xfrm>
          <a:prstGeom prst="rect">
            <a:avLst/>
          </a:prstGeom>
          <a:noFill/>
          <a:ln/>
        </p:spPr>
        <p:txBody>
          <a:bodyPr wrap="square" rtlCol="0" anchor="ctr"/>
          <a:lstStyle/>
          <a:p>
            <a:pPr marL="0" indent="0" algn="ctr">
              <a:buNone/>
            </a:pPr>
            <a:r>
              <a:rPr lang="en-US" sz="3400" b="1" dirty="0">
                <a:solidFill>
                  <a:srgbClr val="F28C28"/>
                </a:solidFill>
                <a:latin typeface="Georgia" pitchFamily="34" charset="0"/>
                <a:ea typeface="Georgia" pitchFamily="34" charset="-122"/>
                <a:cs typeface="Georgia" pitchFamily="34" charset="-120"/>
              </a:rPr>
              <a:t>07</a:t>
            </a:r>
            <a:endParaRPr lang="en-US" sz="3400" dirty="0"/>
          </a:p>
        </p:txBody>
      </p:sp>
      <p:sp>
        <p:nvSpPr>
          <p:cNvPr id="44" name="Text 42"/>
          <p:cNvSpPr/>
          <p:nvPr/>
        </p:nvSpPr>
        <p:spPr>
          <a:xfrm>
            <a:off x="10241280" y="2651760"/>
            <a:ext cx="1325880" cy="1463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Recommendations</a:t>
            </a:r>
            <a:endParaRPr lang="en-US" sz="1300" dirty="0"/>
          </a:p>
        </p:txBody>
      </p:sp>
      <p:sp>
        <p:nvSpPr>
          <p:cNvPr id="45" name="Text 43"/>
          <p:cNvSpPr/>
          <p:nvPr/>
        </p:nvSpPr>
        <p:spPr>
          <a:xfrm>
            <a:off x="10241280" y="4572000"/>
            <a:ext cx="1325880" cy="365760"/>
          </a:xfrm>
          <a:prstGeom prst="rect">
            <a:avLst/>
          </a:prstGeom>
          <a:noFill/>
          <a:ln/>
        </p:spPr>
        <p:txBody>
          <a:bodyPr wrap="square" rtlCol="0" anchor="ctr"/>
          <a:lstStyle/>
          <a:p>
            <a:pPr marL="0" indent="0" algn="ctr">
              <a:buNone/>
            </a:pPr>
            <a:r>
              <a:rPr lang="en-US" sz="1000" kern="0" spc="200" dirty="0">
                <a:solidFill>
                  <a:srgbClr val="F28C28"/>
                </a:solidFill>
                <a:latin typeface="Calibri" pitchFamily="34" charset="0"/>
                <a:ea typeface="Calibri" pitchFamily="34" charset="-122"/>
                <a:cs typeface="Calibri" pitchFamily="34" charset="-120"/>
              </a:rPr>
              <a:t>W3 · 1 day</a:t>
            </a:r>
            <a:endParaRPr lang="en-US" sz="1000" dirty="0"/>
          </a:p>
        </p:txBody>
      </p:sp>
      <p:sp>
        <p:nvSpPr>
          <p:cNvPr id="46" name="Shape 44"/>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47" name="Text 45"/>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48" name="Text 46"/>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A structured 3-week analytics engagement — from problem framing to executive recommendations for CVM.</a:t>
            </a:r>
            <a:endParaRPr lang="en-US" sz="1200" dirty="0"/>
          </a:p>
        </p:txBody>
      </p:sp>
      <p:sp>
        <p:nvSpPr>
          <p:cNvPr id="49" name="Shape 47"/>
          <p:cNvSpPr/>
          <p:nvPr/>
        </p:nvSpPr>
        <p:spPr>
          <a:xfrm>
            <a:off x="457200" y="6446520"/>
            <a:ext cx="11274552" cy="0"/>
          </a:xfrm>
          <a:prstGeom prst="line">
            <a:avLst/>
          </a:prstGeom>
          <a:noFill/>
          <a:ln w="9525">
            <a:solidFill>
              <a:srgbClr val="0057FF">
                <a:alpha val="60000"/>
              </a:srgbClr>
            </a:solidFill>
            <a:prstDash val="solid"/>
          </a:ln>
        </p:spPr>
      </p:sp>
      <p:sp>
        <p:nvSpPr>
          <p:cNvPr id="50" name="Text 48"/>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51" name="Text 49"/>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CASE STUDY</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CVM Objective — Grow the Subscription Base</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sp>
        <p:nvSpPr>
          <p:cNvPr id="11" name="Shape 9"/>
          <p:cNvSpPr/>
          <p:nvPr/>
        </p:nvSpPr>
        <p:spPr>
          <a:xfrm>
            <a:off x="457200" y="1371600"/>
            <a:ext cx="6858000" cy="4114800"/>
          </a:xfrm>
          <a:prstGeom prst="roundRect">
            <a:avLst>
              <a:gd name="adj" fmla="val 2222"/>
            </a:avLst>
          </a:prstGeom>
          <a:solidFill>
            <a:srgbClr val="12244A"/>
          </a:solidFill>
          <a:ln w="9525">
            <a:solidFill>
              <a:srgbClr val="0057FF">
                <a:alpha val="40000"/>
              </a:srgbClr>
            </a:solidFill>
            <a:prstDash val="solid"/>
          </a:ln>
        </p:spPr>
      </p:sp>
      <p:sp>
        <p:nvSpPr>
          <p:cNvPr id="12" name="Text 10"/>
          <p:cNvSpPr/>
          <p:nvPr/>
        </p:nvSpPr>
        <p:spPr>
          <a:xfrm>
            <a:off x="640080" y="1463040"/>
            <a:ext cx="5486400" cy="365760"/>
          </a:xfrm>
          <a:prstGeom prst="rect">
            <a:avLst/>
          </a:prstGeom>
          <a:noFill/>
          <a:ln/>
        </p:spPr>
        <p:txBody>
          <a:bodyPr wrap="square" rtlCol="0" anchor="ctr"/>
          <a:lstStyle/>
          <a:p>
            <a:pPr marL="0" indent="0">
              <a:buNone/>
            </a:pPr>
            <a:r>
              <a:rPr lang="en-US" sz="1400" b="1" kern="0" spc="200" dirty="0">
                <a:solidFill>
                  <a:srgbClr val="F28C28"/>
                </a:solidFill>
                <a:latin typeface="Calibri" pitchFamily="34" charset="0"/>
                <a:ea typeface="Calibri" pitchFamily="34" charset="-122"/>
                <a:cs typeface="Calibri" pitchFamily="34" charset="-120"/>
              </a:rPr>
              <a:t>The Brief</a:t>
            </a:r>
            <a:endParaRPr lang="en-US" sz="1400" dirty="0"/>
          </a:p>
        </p:txBody>
      </p:sp>
      <p:sp>
        <p:nvSpPr>
          <p:cNvPr id="13" name="Text 11"/>
          <p:cNvSpPr/>
          <p:nvPr/>
        </p:nvSpPr>
        <p:spPr>
          <a:xfrm>
            <a:off x="640080" y="1874520"/>
            <a:ext cx="6537960" cy="12801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Bright TV's CEO has set an objective to grow the company's subscription base this financial year. The CVM team has been engaged to derive insights from user profiles and viewer transactions to unlock this growth.</a:t>
            </a:r>
            <a:endParaRPr lang="en-US" sz="1300" dirty="0"/>
          </a:p>
        </p:txBody>
      </p:sp>
      <p:sp>
        <p:nvSpPr>
          <p:cNvPr id="14" name="Text 12"/>
          <p:cNvSpPr/>
          <p:nvPr/>
        </p:nvSpPr>
        <p:spPr>
          <a:xfrm>
            <a:off x="640080" y="3200400"/>
            <a:ext cx="274320" cy="365760"/>
          </a:xfrm>
          <a:prstGeom prst="rect">
            <a:avLst/>
          </a:prstGeom>
          <a:noFill/>
          <a:ln/>
        </p:spPr>
        <p:txBody>
          <a:bodyPr wrap="square" rtlCol="0" anchor="ctr"/>
          <a:lstStyle/>
          <a:p>
            <a:pPr marL="0" indent="0">
              <a:buNone/>
            </a:pPr>
            <a:r>
              <a:rPr lang="en-US" sz="1400" b="1" dirty="0">
                <a:solidFill>
                  <a:srgbClr val="F28C28"/>
                </a:solidFill>
              </a:rPr>
              <a:t>▸</a:t>
            </a:r>
            <a:endParaRPr lang="en-US" sz="1400" dirty="0"/>
          </a:p>
        </p:txBody>
      </p:sp>
      <p:sp>
        <p:nvSpPr>
          <p:cNvPr id="15" name="Text 13"/>
          <p:cNvSpPr/>
          <p:nvPr/>
        </p:nvSpPr>
        <p:spPr>
          <a:xfrm>
            <a:off x="914400" y="3200400"/>
            <a:ext cx="62179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Insights on user and usage trends of Bright TV</a:t>
            </a:r>
            <a:endParaRPr lang="en-US" sz="1200" dirty="0"/>
          </a:p>
        </p:txBody>
      </p:sp>
      <p:sp>
        <p:nvSpPr>
          <p:cNvPr id="16" name="Text 14"/>
          <p:cNvSpPr/>
          <p:nvPr/>
        </p:nvSpPr>
        <p:spPr>
          <a:xfrm>
            <a:off x="640080" y="3703320"/>
            <a:ext cx="274320" cy="365760"/>
          </a:xfrm>
          <a:prstGeom prst="rect">
            <a:avLst/>
          </a:prstGeom>
          <a:noFill/>
          <a:ln/>
        </p:spPr>
        <p:txBody>
          <a:bodyPr wrap="square" rtlCol="0" anchor="ctr"/>
          <a:lstStyle/>
          <a:p>
            <a:pPr marL="0" indent="0">
              <a:buNone/>
            </a:pPr>
            <a:r>
              <a:rPr lang="en-US" sz="1400" b="1" dirty="0">
                <a:solidFill>
                  <a:srgbClr val="F28C28"/>
                </a:solidFill>
              </a:rPr>
              <a:t>▸</a:t>
            </a:r>
            <a:endParaRPr lang="en-US" sz="1400" dirty="0"/>
          </a:p>
        </p:txBody>
      </p:sp>
      <p:sp>
        <p:nvSpPr>
          <p:cNvPr id="17" name="Text 15"/>
          <p:cNvSpPr/>
          <p:nvPr/>
        </p:nvSpPr>
        <p:spPr>
          <a:xfrm>
            <a:off x="914400" y="3703320"/>
            <a:ext cx="62179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Factors that influence content consumption</a:t>
            </a:r>
            <a:endParaRPr lang="en-US" sz="1200" dirty="0"/>
          </a:p>
        </p:txBody>
      </p:sp>
      <p:sp>
        <p:nvSpPr>
          <p:cNvPr id="18" name="Text 16"/>
          <p:cNvSpPr/>
          <p:nvPr/>
        </p:nvSpPr>
        <p:spPr>
          <a:xfrm>
            <a:off x="640080" y="4206240"/>
            <a:ext cx="274320" cy="365760"/>
          </a:xfrm>
          <a:prstGeom prst="rect">
            <a:avLst/>
          </a:prstGeom>
          <a:noFill/>
          <a:ln/>
        </p:spPr>
        <p:txBody>
          <a:bodyPr wrap="square" rtlCol="0" anchor="ctr"/>
          <a:lstStyle/>
          <a:p>
            <a:pPr marL="0" indent="0">
              <a:buNone/>
            </a:pPr>
            <a:r>
              <a:rPr lang="en-US" sz="1400" b="1" dirty="0">
                <a:solidFill>
                  <a:srgbClr val="F28C28"/>
                </a:solidFill>
              </a:rPr>
              <a:t>▸</a:t>
            </a:r>
            <a:endParaRPr lang="en-US" sz="1400" dirty="0"/>
          </a:p>
        </p:txBody>
      </p:sp>
      <p:sp>
        <p:nvSpPr>
          <p:cNvPr id="19" name="Text 17"/>
          <p:cNvSpPr/>
          <p:nvPr/>
        </p:nvSpPr>
        <p:spPr>
          <a:xfrm>
            <a:off x="914400" y="4206240"/>
            <a:ext cx="62179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Content to boost low-consumption days</a:t>
            </a:r>
            <a:endParaRPr lang="en-US" sz="1200" dirty="0"/>
          </a:p>
        </p:txBody>
      </p:sp>
      <p:sp>
        <p:nvSpPr>
          <p:cNvPr id="20" name="Text 18"/>
          <p:cNvSpPr/>
          <p:nvPr/>
        </p:nvSpPr>
        <p:spPr>
          <a:xfrm>
            <a:off x="640080" y="4709160"/>
            <a:ext cx="274320" cy="365760"/>
          </a:xfrm>
          <a:prstGeom prst="rect">
            <a:avLst/>
          </a:prstGeom>
          <a:noFill/>
          <a:ln/>
        </p:spPr>
        <p:txBody>
          <a:bodyPr wrap="square" rtlCol="0" anchor="ctr"/>
          <a:lstStyle/>
          <a:p>
            <a:pPr marL="0" indent="0">
              <a:buNone/>
            </a:pPr>
            <a:r>
              <a:rPr lang="en-US" sz="1400" b="1" dirty="0">
                <a:solidFill>
                  <a:srgbClr val="F28C28"/>
                </a:solidFill>
              </a:rPr>
              <a:t>▸</a:t>
            </a:r>
            <a:endParaRPr lang="en-US" sz="1400" dirty="0"/>
          </a:p>
        </p:txBody>
      </p:sp>
      <p:sp>
        <p:nvSpPr>
          <p:cNvPr id="21" name="Text 19"/>
          <p:cNvSpPr/>
          <p:nvPr/>
        </p:nvSpPr>
        <p:spPr>
          <a:xfrm>
            <a:off x="914400" y="4709160"/>
            <a:ext cx="62179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Initiatives to grow the Bright TV user base</a:t>
            </a:r>
            <a:endParaRPr lang="en-US" sz="1200" dirty="0"/>
          </a:p>
        </p:txBody>
      </p:sp>
      <p:sp>
        <p:nvSpPr>
          <p:cNvPr id="22" name="Shape 20"/>
          <p:cNvSpPr/>
          <p:nvPr/>
        </p:nvSpPr>
        <p:spPr>
          <a:xfrm>
            <a:off x="7589520" y="1371600"/>
            <a:ext cx="1965960" cy="1920240"/>
          </a:xfrm>
          <a:prstGeom prst="roundRect">
            <a:avLst>
              <a:gd name="adj" fmla="val 4762"/>
            </a:avLst>
          </a:prstGeom>
          <a:solidFill>
            <a:srgbClr val="12244A"/>
          </a:solidFill>
          <a:ln w="9525">
            <a:solidFill>
              <a:srgbClr val="0057FF">
                <a:alpha val="40000"/>
              </a:srgbClr>
            </a:solidFill>
            <a:prstDash val="solid"/>
          </a:ln>
        </p:spPr>
      </p:sp>
      <p:sp>
        <p:nvSpPr>
          <p:cNvPr id="23" name="Text 21"/>
          <p:cNvSpPr/>
          <p:nvPr/>
        </p:nvSpPr>
        <p:spPr>
          <a:xfrm>
            <a:off x="7589520" y="1600200"/>
            <a:ext cx="1965960" cy="82296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24" name="Text 22"/>
          <p:cNvSpPr/>
          <p:nvPr/>
        </p:nvSpPr>
        <p:spPr>
          <a:xfrm>
            <a:off x="7589520" y="2606040"/>
            <a:ext cx="196596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User Trends</a:t>
            </a:r>
            <a:endParaRPr lang="en-US" sz="1300" dirty="0"/>
          </a:p>
        </p:txBody>
      </p:sp>
      <p:sp>
        <p:nvSpPr>
          <p:cNvPr id="25" name="Shape 23"/>
          <p:cNvSpPr/>
          <p:nvPr/>
        </p:nvSpPr>
        <p:spPr>
          <a:xfrm>
            <a:off x="9738360" y="1371600"/>
            <a:ext cx="1965960" cy="1920240"/>
          </a:xfrm>
          <a:prstGeom prst="roundRect">
            <a:avLst>
              <a:gd name="adj" fmla="val 4762"/>
            </a:avLst>
          </a:prstGeom>
          <a:solidFill>
            <a:srgbClr val="12244A"/>
          </a:solidFill>
          <a:ln w="9525">
            <a:solidFill>
              <a:srgbClr val="0057FF">
                <a:alpha val="40000"/>
              </a:srgbClr>
            </a:solidFill>
            <a:prstDash val="solid"/>
          </a:ln>
        </p:spPr>
      </p:sp>
      <p:sp>
        <p:nvSpPr>
          <p:cNvPr id="26" name="Text 24"/>
          <p:cNvSpPr/>
          <p:nvPr/>
        </p:nvSpPr>
        <p:spPr>
          <a:xfrm>
            <a:off x="9738360" y="1600200"/>
            <a:ext cx="1965960" cy="82296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27" name="Text 25"/>
          <p:cNvSpPr/>
          <p:nvPr/>
        </p:nvSpPr>
        <p:spPr>
          <a:xfrm>
            <a:off x="9738360" y="2606040"/>
            <a:ext cx="196596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Consumption Drivers</a:t>
            </a:r>
            <a:endParaRPr lang="en-US" sz="1300" dirty="0"/>
          </a:p>
        </p:txBody>
      </p:sp>
      <p:sp>
        <p:nvSpPr>
          <p:cNvPr id="28" name="Shape 26"/>
          <p:cNvSpPr/>
          <p:nvPr/>
        </p:nvSpPr>
        <p:spPr>
          <a:xfrm>
            <a:off x="7589520" y="3474720"/>
            <a:ext cx="1965960" cy="1920240"/>
          </a:xfrm>
          <a:prstGeom prst="roundRect">
            <a:avLst>
              <a:gd name="adj" fmla="val 4762"/>
            </a:avLst>
          </a:prstGeom>
          <a:solidFill>
            <a:srgbClr val="12244A"/>
          </a:solidFill>
          <a:ln w="9525">
            <a:solidFill>
              <a:srgbClr val="0057FF">
                <a:alpha val="40000"/>
              </a:srgbClr>
            </a:solidFill>
            <a:prstDash val="solid"/>
          </a:ln>
        </p:spPr>
      </p:sp>
      <p:sp>
        <p:nvSpPr>
          <p:cNvPr id="29" name="Text 27"/>
          <p:cNvSpPr/>
          <p:nvPr/>
        </p:nvSpPr>
        <p:spPr>
          <a:xfrm>
            <a:off x="7589520" y="3703320"/>
            <a:ext cx="1965960" cy="82296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30" name="Text 28"/>
          <p:cNvSpPr/>
          <p:nvPr/>
        </p:nvSpPr>
        <p:spPr>
          <a:xfrm>
            <a:off x="7589520" y="4709160"/>
            <a:ext cx="196596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Low-View Slots</a:t>
            </a:r>
            <a:endParaRPr lang="en-US" sz="1300" dirty="0"/>
          </a:p>
        </p:txBody>
      </p:sp>
      <p:sp>
        <p:nvSpPr>
          <p:cNvPr id="31" name="Shape 29"/>
          <p:cNvSpPr/>
          <p:nvPr/>
        </p:nvSpPr>
        <p:spPr>
          <a:xfrm>
            <a:off x="9738360" y="3474720"/>
            <a:ext cx="1965960" cy="1920240"/>
          </a:xfrm>
          <a:prstGeom prst="roundRect">
            <a:avLst>
              <a:gd name="adj" fmla="val 4762"/>
            </a:avLst>
          </a:prstGeom>
          <a:solidFill>
            <a:srgbClr val="12244A"/>
          </a:solidFill>
          <a:ln w="9525">
            <a:solidFill>
              <a:srgbClr val="0057FF">
                <a:alpha val="40000"/>
              </a:srgbClr>
            </a:solidFill>
            <a:prstDash val="solid"/>
          </a:ln>
        </p:spPr>
      </p:sp>
      <p:sp>
        <p:nvSpPr>
          <p:cNvPr id="32" name="Text 30"/>
          <p:cNvSpPr/>
          <p:nvPr/>
        </p:nvSpPr>
        <p:spPr>
          <a:xfrm>
            <a:off x="9738360" y="3703320"/>
            <a:ext cx="1965960" cy="82296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33" name="Text 31"/>
          <p:cNvSpPr/>
          <p:nvPr/>
        </p:nvSpPr>
        <p:spPr>
          <a:xfrm>
            <a:off x="9738360" y="4709160"/>
            <a:ext cx="196596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Growth Initiatives</a:t>
            </a:r>
            <a:endParaRPr lang="en-US" sz="1300" dirty="0"/>
          </a:p>
        </p:txBody>
      </p:sp>
      <p:sp>
        <p:nvSpPr>
          <p:cNvPr id="34" name="Shape 32"/>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35" name="Text 33"/>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36" name="Text 34"/>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Turning raw viewership data into a CVM growth playbook for Bright TV.</a:t>
            </a:r>
            <a:endParaRPr lang="en-US" sz="1200" dirty="0"/>
          </a:p>
        </p:txBody>
      </p:sp>
      <p:sp>
        <p:nvSpPr>
          <p:cNvPr id="37" name="Shape 35"/>
          <p:cNvSpPr/>
          <p:nvPr/>
        </p:nvSpPr>
        <p:spPr>
          <a:xfrm>
            <a:off x="457200" y="6446520"/>
            <a:ext cx="11274552" cy="0"/>
          </a:xfrm>
          <a:prstGeom prst="line">
            <a:avLst/>
          </a:prstGeom>
          <a:noFill/>
          <a:ln w="9525">
            <a:solidFill>
              <a:srgbClr val="0057FF">
                <a:alpha val="60000"/>
              </a:srgbClr>
            </a:solidFill>
            <a:prstDash val="solid"/>
          </a:ln>
        </p:spPr>
      </p:sp>
      <p:sp>
        <p:nvSpPr>
          <p:cNvPr id="38" name="Text 36"/>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39" name="Text 37"/>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01 · CHANNEL PERFORMANCE</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Most Watched Channel per Month</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graphicFrame>
        <p:nvGraphicFramePr>
          <p:cNvPr id="11" name="Chart 0"/>
          <p:cNvGraphicFramePr/>
          <p:nvPr/>
        </p:nvGraphicFramePr>
        <p:xfrm>
          <a:off x="457200" y="128016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7772400" y="1280160"/>
            <a:ext cx="3977640" cy="1325880"/>
          </a:xfrm>
          <a:prstGeom prst="roundRect">
            <a:avLst>
              <a:gd name="adj" fmla="val 6897"/>
            </a:avLst>
          </a:prstGeom>
          <a:solidFill>
            <a:srgbClr val="12244A"/>
          </a:solidFill>
          <a:ln w="9525">
            <a:solidFill>
              <a:srgbClr val="0057FF">
                <a:alpha val="40000"/>
              </a:srgbClr>
            </a:solidFill>
            <a:prstDash val="solid"/>
          </a:ln>
        </p:spPr>
      </p:sp>
      <p:sp>
        <p:nvSpPr>
          <p:cNvPr id="13" name="Text 10"/>
          <p:cNvSpPr/>
          <p:nvPr/>
        </p:nvSpPr>
        <p:spPr>
          <a:xfrm>
            <a:off x="7909560" y="137160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4" name="Text 11"/>
          <p:cNvSpPr/>
          <p:nvPr/>
        </p:nvSpPr>
        <p:spPr>
          <a:xfrm>
            <a:off x="8503920" y="138988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TOP PERFORMER</a:t>
            </a:r>
            <a:endParaRPr lang="en-US" sz="1200" dirty="0"/>
          </a:p>
        </p:txBody>
      </p:sp>
      <p:sp>
        <p:nvSpPr>
          <p:cNvPr id="15" name="Text 12"/>
          <p:cNvSpPr/>
          <p:nvPr/>
        </p:nvSpPr>
        <p:spPr>
          <a:xfrm>
            <a:off x="7955280" y="178308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ICC Cricket World Cup 2011 surged to 97 views in March — sports remain the biggest engagement driver.</a:t>
            </a:r>
            <a:endParaRPr lang="en-US" sz="1050" dirty="0"/>
          </a:p>
        </p:txBody>
      </p:sp>
      <p:sp>
        <p:nvSpPr>
          <p:cNvPr id="16" name="Shape 13"/>
          <p:cNvSpPr/>
          <p:nvPr/>
        </p:nvSpPr>
        <p:spPr>
          <a:xfrm>
            <a:off x="7772400" y="2697480"/>
            <a:ext cx="3977640" cy="1325880"/>
          </a:xfrm>
          <a:prstGeom prst="roundRect">
            <a:avLst>
              <a:gd name="adj" fmla="val 6897"/>
            </a:avLst>
          </a:prstGeom>
          <a:solidFill>
            <a:srgbClr val="12244A"/>
          </a:solidFill>
          <a:ln w="9525">
            <a:solidFill>
              <a:srgbClr val="0057FF">
                <a:alpha val="40000"/>
              </a:srgbClr>
            </a:solidFill>
            <a:prstDash val="solid"/>
          </a:ln>
        </p:spPr>
      </p:sp>
      <p:sp>
        <p:nvSpPr>
          <p:cNvPr id="17" name="Text 14"/>
          <p:cNvSpPr/>
          <p:nvPr/>
        </p:nvSpPr>
        <p:spPr>
          <a:xfrm>
            <a:off x="7909560" y="278892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8" name="Text 15"/>
          <p:cNvSpPr/>
          <p:nvPr/>
        </p:nvSpPr>
        <p:spPr>
          <a:xfrm>
            <a:off x="8503920" y="280720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HIGHEST GROWTH</a:t>
            </a:r>
            <a:endParaRPr lang="en-US" sz="1200" dirty="0"/>
          </a:p>
        </p:txBody>
      </p:sp>
      <p:sp>
        <p:nvSpPr>
          <p:cNvPr id="19" name="Text 16"/>
          <p:cNvSpPr/>
          <p:nvPr/>
        </p:nvSpPr>
        <p:spPr>
          <a:xfrm>
            <a:off x="7955280" y="320040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March recorded highest viewership across most channels. Entertainment (Africa Magic, Channel O, Trace TV) grew steadily.</a:t>
            </a:r>
            <a:endParaRPr lang="en-US" sz="1050" dirty="0"/>
          </a:p>
        </p:txBody>
      </p:sp>
      <p:sp>
        <p:nvSpPr>
          <p:cNvPr id="20" name="Shape 17"/>
          <p:cNvSpPr/>
          <p:nvPr/>
        </p:nvSpPr>
        <p:spPr>
          <a:xfrm>
            <a:off x="7772400" y="4114800"/>
            <a:ext cx="3977640" cy="1371600"/>
          </a:xfrm>
          <a:prstGeom prst="roundRect">
            <a:avLst>
              <a:gd name="adj" fmla="val 6667"/>
            </a:avLst>
          </a:prstGeom>
          <a:solidFill>
            <a:srgbClr val="12244A"/>
          </a:solidFill>
          <a:ln w="9525">
            <a:solidFill>
              <a:srgbClr val="0057FF">
                <a:alpha val="40000"/>
              </a:srgbClr>
            </a:solidFill>
            <a:prstDash val="solid"/>
          </a:ln>
        </p:spPr>
      </p:sp>
      <p:sp>
        <p:nvSpPr>
          <p:cNvPr id="21" name="Text 18"/>
          <p:cNvSpPr/>
          <p:nvPr/>
        </p:nvSpPr>
        <p:spPr>
          <a:xfrm>
            <a:off x="7909560" y="420624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22" name="Text 19"/>
          <p:cNvSpPr/>
          <p:nvPr/>
        </p:nvSpPr>
        <p:spPr>
          <a:xfrm>
            <a:off x="8503920" y="422452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UNDERPERFORMERS</a:t>
            </a:r>
            <a:endParaRPr lang="en-US" sz="1200" dirty="0"/>
          </a:p>
        </p:txBody>
      </p:sp>
      <p:sp>
        <p:nvSpPr>
          <p:cNvPr id="23" name="Text 20"/>
          <p:cNvSpPr/>
          <p:nvPr/>
        </p:nvSpPr>
        <p:spPr>
          <a:xfrm>
            <a:off x="7955280" y="4617720"/>
            <a:ext cx="3611880" cy="77724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Niche channels — MK, kykNET, M-Net, Vuzu, DStv Events 1 — remain low. Content strategy needs a refresh.</a:t>
            </a:r>
            <a:endParaRPr lang="en-US" sz="1050" dirty="0"/>
          </a:p>
        </p:txBody>
      </p:sp>
      <p:sp>
        <p:nvSpPr>
          <p:cNvPr id="24" name="Shape 21"/>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25" name="Text 22"/>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26" name="Text 23"/>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Sports dominates engagement; entertainment grows steadily; niche channels need a content refresh.</a:t>
            </a:r>
            <a:endParaRPr lang="en-US" sz="1200" dirty="0"/>
          </a:p>
        </p:txBody>
      </p:sp>
      <p:sp>
        <p:nvSpPr>
          <p:cNvPr id="27" name="Shape 24"/>
          <p:cNvSpPr/>
          <p:nvPr/>
        </p:nvSpPr>
        <p:spPr>
          <a:xfrm>
            <a:off x="457200" y="6446520"/>
            <a:ext cx="11274552" cy="0"/>
          </a:xfrm>
          <a:prstGeom prst="line">
            <a:avLst/>
          </a:prstGeom>
          <a:noFill/>
          <a:ln w="9525">
            <a:solidFill>
              <a:srgbClr val="0057FF">
                <a:alpha val="60000"/>
              </a:srgbClr>
            </a:solidFill>
            <a:prstDash val="solid"/>
          </a:ln>
        </p:spPr>
      </p:sp>
      <p:sp>
        <p:nvSpPr>
          <p:cNvPr id="28" name="Text 2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29" name="Text 26"/>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02 · AUDIENCE PROFILE</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Most Streaming Age Group</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graphicFrame>
        <p:nvGraphicFramePr>
          <p:cNvPr id="11" name="Chart 0"/>
          <p:cNvGraphicFramePr/>
          <p:nvPr/>
        </p:nvGraphicFramePr>
        <p:xfrm>
          <a:off x="457200" y="128016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7772400" y="1280160"/>
            <a:ext cx="3977640" cy="4206240"/>
          </a:xfrm>
          <a:prstGeom prst="roundRect">
            <a:avLst>
              <a:gd name="adj" fmla="val 2299"/>
            </a:avLst>
          </a:prstGeom>
          <a:solidFill>
            <a:srgbClr val="12244A"/>
          </a:solidFill>
          <a:ln w="9525">
            <a:solidFill>
              <a:srgbClr val="0057FF">
                <a:alpha val="40000"/>
              </a:srgbClr>
            </a:solidFill>
            <a:prstDash val="solid"/>
          </a:ln>
        </p:spPr>
      </p:sp>
      <p:sp>
        <p:nvSpPr>
          <p:cNvPr id="13" name="Text 10"/>
          <p:cNvSpPr/>
          <p:nvPr/>
        </p:nvSpPr>
        <p:spPr>
          <a:xfrm>
            <a:off x="7909560" y="1371600"/>
            <a:ext cx="3749040" cy="274320"/>
          </a:xfrm>
          <a:prstGeom prst="rect">
            <a:avLst/>
          </a:prstGeom>
          <a:noFill/>
          <a:ln/>
        </p:spPr>
        <p:txBody>
          <a:bodyPr wrap="square" rtlCol="0" anchor="ctr"/>
          <a:lstStyle/>
          <a:p>
            <a:pPr marL="0" indent="0">
              <a:buNone/>
            </a:pPr>
            <a:r>
              <a:rPr lang="en-US" sz="1100" b="1" kern="0" spc="300" dirty="0">
                <a:solidFill>
                  <a:srgbClr val="F28C28"/>
                </a:solidFill>
                <a:latin typeface="Calibri" pitchFamily="34" charset="0"/>
                <a:ea typeface="Calibri" pitchFamily="34" charset="-122"/>
                <a:cs typeface="Calibri" pitchFamily="34" charset="-120"/>
              </a:rPr>
              <a:t>AUDIENCE BREAKDOWN</a:t>
            </a:r>
            <a:endParaRPr lang="en-US" sz="1100" dirty="0"/>
          </a:p>
        </p:txBody>
      </p:sp>
      <p:sp>
        <p:nvSpPr>
          <p:cNvPr id="14" name="Text 11"/>
          <p:cNvSpPr/>
          <p:nvPr/>
        </p:nvSpPr>
        <p:spPr>
          <a:xfrm>
            <a:off x="7863840" y="1737360"/>
            <a:ext cx="548640" cy="64008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5" name="Text 12"/>
          <p:cNvSpPr/>
          <p:nvPr/>
        </p:nvSpPr>
        <p:spPr>
          <a:xfrm>
            <a:off x="8412480" y="1755648"/>
            <a:ext cx="15544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Youth</a:t>
            </a:r>
            <a:endParaRPr lang="en-US" sz="1200" dirty="0"/>
          </a:p>
        </p:txBody>
      </p:sp>
      <p:sp>
        <p:nvSpPr>
          <p:cNvPr id="16" name="Text 13"/>
          <p:cNvSpPr/>
          <p:nvPr/>
        </p:nvSpPr>
        <p:spPr>
          <a:xfrm>
            <a:off x="9966960" y="1755648"/>
            <a:ext cx="1645920" cy="320040"/>
          </a:xfrm>
          <a:prstGeom prst="rect">
            <a:avLst/>
          </a:prstGeom>
          <a:noFill/>
          <a:ln/>
        </p:spPr>
        <p:txBody>
          <a:bodyPr wrap="square" rtlCol="0" anchor="ctr"/>
          <a:lstStyle/>
          <a:p>
            <a:pPr marL="0" indent="0" algn="r">
              <a:buNone/>
            </a:pPr>
            <a:r>
              <a:rPr lang="en-US" sz="1600" b="1" dirty="0">
                <a:solidFill>
                  <a:srgbClr val="F28C28"/>
                </a:solidFill>
                <a:latin typeface="Georgia" pitchFamily="34" charset="0"/>
                <a:ea typeface="Georgia" pitchFamily="34" charset="-122"/>
                <a:cs typeface="Georgia" pitchFamily="34" charset="-120"/>
              </a:rPr>
              <a:t>42%</a:t>
            </a:r>
            <a:endParaRPr lang="en-US" sz="1600" dirty="0"/>
          </a:p>
        </p:txBody>
      </p:sp>
      <p:sp>
        <p:nvSpPr>
          <p:cNvPr id="17" name="Text 14"/>
          <p:cNvSpPr/>
          <p:nvPr/>
        </p:nvSpPr>
        <p:spPr>
          <a:xfrm>
            <a:off x="8412480" y="2084832"/>
            <a:ext cx="3246120" cy="365760"/>
          </a:xfrm>
          <a:prstGeom prst="rect">
            <a:avLst/>
          </a:prstGeom>
          <a:noFill/>
          <a:ln/>
        </p:spPr>
        <p:txBody>
          <a:bodyPr wrap="square" rtlCol="0" anchor="ctr"/>
          <a:lstStyle/>
          <a:p>
            <a:pPr marL="0" indent="0">
              <a:buNone/>
            </a:pPr>
            <a:r>
              <a:rPr lang="en-US" sz="950" dirty="0">
                <a:solidFill>
                  <a:srgbClr val="EAEAEA"/>
                </a:solidFill>
                <a:latin typeface="Calibri" pitchFamily="34" charset="0"/>
                <a:ea typeface="Calibri" pitchFamily="34" charset="-122"/>
                <a:cs typeface="Calibri" pitchFamily="34" charset="-120"/>
              </a:rPr>
              <a:t>Core audience — largest segment.</a:t>
            </a:r>
            <a:endParaRPr lang="en-US" sz="950" dirty="0"/>
          </a:p>
        </p:txBody>
      </p:sp>
      <p:sp>
        <p:nvSpPr>
          <p:cNvPr id="18" name="Text 15"/>
          <p:cNvSpPr/>
          <p:nvPr/>
        </p:nvSpPr>
        <p:spPr>
          <a:xfrm>
            <a:off x="7863840" y="2487168"/>
            <a:ext cx="548640" cy="64008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9" name="Text 16"/>
          <p:cNvSpPr/>
          <p:nvPr/>
        </p:nvSpPr>
        <p:spPr>
          <a:xfrm>
            <a:off x="8412480" y="2505456"/>
            <a:ext cx="15544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Adults</a:t>
            </a:r>
            <a:endParaRPr lang="en-US" sz="1200" dirty="0"/>
          </a:p>
        </p:txBody>
      </p:sp>
      <p:sp>
        <p:nvSpPr>
          <p:cNvPr id="20" name="Text 17"/>
          <p:cNvSpPr/>
          <p:nvPr/>
        </p:nvSpPr>
        <p:spPr>
          <a:xfrm>
            <a:off x="9966960" y="2505456"/>
            <a:ext cx="1645920" cy="320040"/>
          </a:xfrm>
          <a:prstGeom prst="rect">
            <a:avLst/>
          </a:prstGeom>
          <a:noFill/>
          <a:ln/>
        </p:spPr>
        <p:txBody>
          <a:bodyPr wrap="square" rtlCol="0" anchor="ctr"/>
          <a:lstStyle/>
          <a:p>
            <a:pPr marL="0" indent="0" algn="r">
              <a:buNone/>
            </a:pPr>
            <a:r>
              <a:rPr lang="en-US" sz="1600" b="1" dirty="0">
                <a:solidFill>
                  <a:srgbClr val="F28C28"/>
                </a:solidFill>
                <a:latin typeface="Georgia" pitchFamily="34" charset="0"/>
                <a:ea typeface="Georgia" pitchFamily="34" charset="-122"/>
                <a:cs typeface="Georgia" pitchFamily="34" charset="-120"/>
              </a:rPr>
              <a:t>31%</a:t>
            </a:r>
            <a:endParaRPr lang="en-US" sz="1600" dirty="0"/>
          </a:p>
        </p:txBody>
      </p:sp>
      <p:sp>
        <p:nvSpPr>
          <p:cNvPr id="21" name="Text 18"/>
          <p:cNvSpPr/>
          <p:nvPr/>
        </p:nvSpPr>
        <p:spPr>
          <a:xfrm>
            <a:off x="8412480" y="2834640"/>
            <a:ext cx="3246120" cy="365760"/>
          </a:xfrm>
          <a:prstGeom prst="rect">
            <a:avLst/>
          </a:prstGeom>
          <a:noFill/>
          <a:ln/>
        </p:spPr>
        <p:txBody>
          <a:bodyPr wrap="square" rtlCol="0" anchor="ctr"/>
          <a:lstStyle/>
          <a:p>
            <a:pPr marL="0" indent="0">
              <a:buNone/>
            </a:pPr>
            <a:r>
              <a:rPr lang="en-US" sz="950" dirty="0">
                <a:solidFill>
                  <a:srgbClr val="EAEAEA"/>
                </a:solidFill>
                <a:latin typeface="Calibri" pitchFamily="34" charset="0"/>
                <a:ea typeface="Calibri" pitchFamily="34" charset="-122"/>
                <a:cs typeface="Calibri" pitchFamily="34" charset="-120"/>
              </a:rPr>
              <a:t>Strong second — combined with youth = 73%.</a:t>
            </a:r>
            <a:endParaRPr lang="en-US" sz="950" dirty="0"/>
          </a:p>
        </p:txBody>
      </p:sp>
      <p:sp>
        <p:nvSpPr>
          <p:cNvPr id="22" name="Text 19"/>
          <p:cNvSpPr/>
          <p:nvPr/>
        </p:nvSpPr>
        <p:spPr>
          <a:xfrm>
            <a:off x="7863840" y="3236976"/>
            <a:ext cx="548640" cy="64008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3" name="Text 20"/>
          <p:cNvSpPr/>
          <p:nvPr/>
        </p:nvSpPr>
        <p:spPr>
          <a:xfrm>
            <a:off x="8412480" y="3255264"/>
            <a:ext cx="15544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Teenagers</a:t>
            </a:r>
            <a:endParaRPr lang="en-US" sz="1200" dirty="0"/>
          </a:p>
        </p:txBody>
      </p:sp>
      <p:sp>
        <p:nvSpPr>
          <p:cNvPr id="24" name="Text 21"/>
          <p:cNvSpPr/>
          <p:nvPr/>
        </p:nvSpPr>
        <p:spPr>
          <a:xfrm>
            <a:off x="9966960" y="3255264"/>
            <a:ext cx="1645920" cy="320040"/>
          </a:xfrm>
          <a:prstGeom prst="rect">
            <a:avLst/>
          </a:prstGeom>
          <a:noFill/>
          <a:ln/>
        </p:spPr>
        <p:txBody>
          <a:bodyPr wrap="square" rtlCol="0" anchor="ctr"/>
          <a:lstStyle/>
          <a:p>
            <a:pPr marL="0" indent="0" algn="r">
              <a:buNone/>
            </a:pPr>
            <a:r>
              <a:rPr lang="en-US" sz="1600" b="1" dirty="0">
                <a:solidFill>
                  <a:srgbClr val="F28C28"/>
                </a:solidFill>
                <a:latin typeface="Georgia" pitchFamily="34" charset="0"/>
                <a:ea typeface="Georgia" pitchFamily="34" charset="-122"/>
                <a:cs typeface="Georgia" pitchFamily="34" charset="-120"/>
              </a:rPr>
              <a:t>18%</a:t>
            </a:r>
            <a:endParaRPr lang="en-US" sz="1600" dirty="0"/>
          </a:p>
        </p:txBody>
      </p:sp>
      <p:sp>
        <p:nvSpPr>
          <p:cNvPr id="25" name="Text 22"/>
          <p:cNvSpPr/>
          <p:nvPr/>
        </p:nvSpPr>
        <p:spPr>
          <a:xfrm>
            <a:off x="8412480" y="3584448"/>
            <a:ext cx="3246120" cy="365760"/>
          </a:xfrm>
          <a:prstGeom prst="rect">
            <a:avLst/>
          </a:prstGeom>
          <a:noFill/>
          <a:ln/>
        </p:spPr>
        <p:txBody>
          <a:bodyPr wrap="square" rtlCol="0" anchor="ctr"/>
          <a:lstStyle/>
          <a:p>
            <a:pPr marL="0" indent="0">
              <a:buNone/>
            </a:pPr>
            <a:r>
              <a:rPr lang="en-US" sz="950" dirty="0">
                <a:solidFill>
                  <a:srgbClr val="EAEAEA"/>
                </a:solidFill>
                <a:latin typeface="Calibri" pitchFamily="34" charset="0"/>
                <a:ea typeface="Calibri" pitchFamily="34" charset="-122"/>
                <a:cs typeface="Calibri" pitchFamily="34" charset="-120"/>
              </a:rPr>
              <a:t>Solid engagement, room to grow.</a:t>
            </a:r>
            <a:endParaRPr lang="en-US" sz="950" dirty="0"/>
          </a:p>
        </p:txBody>
      </p:sp>
      <p:sp>
        <p:nvSpPr>
          <p:cNvPr id="26" name="Text 23"/>
          <p:cNvSpPr/>
          <p:nvPr/>
        </p:nvSpPr>
        <p:spPr>
          <a:xfrm>
            <a:off x="7863840" y="3986784"/>
            <a:ext cx="548640" cy="64008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7" name="Text 24"/>
          <p:cNvSpPr/>
          <p:nvPr/>
        </p:nvSpPr>
        <p:spPr>
          <a:xfrm>
            <a:off x="8412480" y="4005072"/>
            <a:ext cx="15544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Kids</a:t>
            </a:r>
            <a:endParaRPr lang="en-US" sz="1200" dirty="0"/>
          </a:p>
        </p:txBody>
      </p:sp>
      <p:sp>
        <p:nvSpPr>
          <p:cNvPr id="28" name="Text 25"/>
          <p:cNvSpPr/>
          <p:nvPr/>
        </p:nvSpPr>
        <p:spPr>
          <a:xfrm>
            <a:off x="9966960" y="4005072"/>
            <a:ext cx="1645920" cy="320040"/>
          </a:xfrm>
          <a:prstGeom prst="rect">
            <a:avLst/>
          </a:prstGeom>
          <a:noFill/>
          <a:ln/>
        </p:spPr>
        <p:txBody>
          <a:bodyPr wrap="square" rtlCol="0" anchor="ctr"/>
          <a:lstStyle/>
          <a:p>
            <a:pPr marL="0" indent="0" algn="r">
              <a:buNone/>
            </a:pPr>
            <a:r>
              <a:rPr lang="en-US" sz="1600" b="1" dirty="0">
                <a:solidFill>
                  <a:srgbClr val="F28C28"/>
                </a:solidFill>
                <a:latin typeface="Georgia" pitchFamily="34" charset="0"/>
                <a:ea typeface="Georgia" pitchFamily="34" charset="-122"/>
                <a:cs typeface="Georgia" pitchFamily="34" charset="-120"/>
              </a:rPr>
              <a:t>8%</a:t>
            </a:r>
            <a:endParaRPr lang="en-US" sz="1600" dirty="0"/>
          </a:p>
        </p:txBody>
      </p:sp>
      <p:sp>
        <p:nvSpPr>
          <p:cNvPr id="29" name="Text 26"/>
          <p:cNvSpPr/>
          <p:nvPr/>
        </p:nvSpPr>
        <p:spPr>
          <a:xfrm>
            <a:off x="8412480" y="4334256"/>
            <a:ext cx="3246120" cy="365760"/>
          </a:xfrm>
          <a:prstGeom prst="rect">
            <a:avLst/>
          </a:prstGeom>
          <a:noFill/>
          <a:ln/>
        </p:spPr>
        <p:txBody>
          <a:bodyPr wrap="square" rtlCol="0" anchor="ctr"/>
          <a:lstStyle/>
          <a:p>
            <a:pPr marL="0" indent="0">
              <a:buNone/>
            </a:pPr>
            <a:r>
              <a:rPr lang="en-US" sz="950" dirty="0">
                <a:solidFill>
                  <a:srgbClr val="EAEAEA"/>
                </a:solidFill>
                <a:latin typeface="Calibri" pitchFamily="34" charset="0"/>
                <a:ea typeface="Calibri" pitchFamily="34" charset="-122"/>
                <a:cs typeface="Calibri" pitchFamily="34" charset="-120"/>
              </a:rPr>
              <a:t>Small audience — opportunity to enhance.</a:t>
            </a:r>
            <a:endParaRPr lang="en-US" sz="950" dirty="0"/>
          </a:p>
        </p:txBody>
      </p:sp>
      <p:sp>
        <p:nvSpPr>
          <p:cNvPr id="30" name="Text 27"/>
          <p:cNvSpPr/>
          <p:nvPr/>
        </p:nvSpPr>
        <p:spPr>
          <a:xfrm>
            <a:off x="7863840" y="4736592"/>
            <a:ext cx="548640" cy="64008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31" name="Text 28"/>
          <p:cNvSpPr/>
          <p:nvPr/>
        </p:nvSpPr>
        <p:spPr>
          <a:xfrm>
            <a:off x="8412480" y="4754880"/>
            <a:ext cx="15544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Pensioners</a:t>
            </a:r>
            <a:endParaRPr lang="en-US" sz="1200" dirty="0"/>
          </a:p>
        </p:txBody>
      </p:sp>
      <p:sp>
        <p:nvSpPr>
          <p:cNvPr id="32" name="Text 29"/>
          <p:cNvSpPr/>
          <p:nvPr/>
        </p:nvSpPr>
        <p:spPr>
          <a:xfrm>
            <a:off x="9966960" y="4754880"/>
            <a:ext cx="1645920" cy="320040"/>
          </a:xfrm>
          <a:prstGeom prst="rect">
            <a:avLst/>
          </a:prstGeom>
          <a:noFill/>
          <a:ln/>
        </p:spPr>
        <p:txBody>
          <a:bodyPr wrap="square" rtlCol="0" anchor="ctr"/>
          <a:lstStyle/>
          <a:p>
            <a:pPr marL="0" indent="0" algn="r">
              <a:buNone/>
            </a:pPr>
            <a:r>
              <a:rPr lang="en-US" sz="1600" b="1" dirty="0">
                <a:solidFill>
                  <a:srgbClr val="F28C28"/>
                </a:solidFill>
                <a:latin typeface="Georgia" pitchFamily="34" charset="0"/>
                <a:ea typeface="Georgia" pitchFamily="34" charset="-122"/>
                <a:cs typeface="Georgia" pitchFamily="34" charset="-120"/>
              </a:rPr>
              <a:t>1%</a:t>
            </a:r>
            <a:endParaRPr lang="en-US" sz="1600" dirty="0"/>
          </a:p>
        </p:txBody>
      </p:sp>
      <p:sp>
        <p:nvSpPr>
          <p:cNvPr id="33" name="Text 30"/>
          <p:cNvSpPr/>
          <p:nvPr/>
        </p:nvSpPr>
        <p:spPr>
          <a:xfrm>
            <a:off x="8412480" y="5084064"/>
            <a:ext cx="3246120" cy="365760"/>
          </a:xfrm>
          <a:prstGeom prst="rect">
            <a:avLst/>
          </a:prstGeom>
          <a:noFill/>
          <a:ln/>
        </p:spPr>
        <p:txBody>
          <a:bodyPr wrap="square" rtlCol="0" anchor="ctr"/>
          <a:lstStyle/>
          <a:p>
            <a:pPr marL="0" indent="0">
              <a:buNone/>
            </a:pPr>
            <a:r>
              <a:rPr lang="en-US" sz="950" dirty="0">
                <a:solidFill>
                  <a:srgbClr val="EAEAEA"/>
                </a:solidFill>
                <a:latin typeface="Calibri" pitchFamily="34" charset="0"/>
                <a:ea typeface="Calibri" pitchFamily="34" charset="-122"/>
                <a:cs typeface="Calibri" pitchFamily="34" charset="-120"/>
              </a:rPr>
              <a:t>Least engaged — untapped segment.</a:t>
            </a:r>
            <a:endParaRPr lang="en-US" sz="950" dirty="0"/>
          </a:p>
        </p:txBody>
      </p:sp>
      <p:sp>
        <p:nvSpPr>
          <p:cNvPr id="34" name="Shape 31"/>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35" name="Text 32"/>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36" name="Text 33"/>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Youth + Adults are 73% of the audience — Kids and Pensioners are the biggest untapped growth segments.</a:t>
            </a:r>
            <a:endParaRPr lang="en-US" sz="1200" dirty="0"/>
          </a:p>
        </p:txBody>
      </p:sp>
      <p:sp>
        <p:nvSpPr>
          <p:cNvPr id="37" name="Shape 34"/>
          <p:cNvSpPr/>
          <p:nvPr/>
        </p:nvSpPr>
        <p:spPr>
          <a:xfrm>
            <a:off x="457200" y="6446520"/>
            <a:ext cx="11274552" cy="0"/>
          </a:xfrm>
          <a:prstGeom prst="line">
            <a:avLst/>
          </a:prstGeom>
          <a:noFill/>
          <a:ln w="9525">
            <a:solidFill>
              <a:srgbClr val="0057FF">
                <a:alpha val="60000"/>
              </a:srgbClr>
            </a:solidFill>
            <a:prstDash val="solid"/>
          </a:ln>
        </p:spPr>
      </p:sp>
      <p:sp>
        <p:nvSpPr>
          <p:cNvPr id="38" name="Text 3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39" name="Text 36"/>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03 · WEEKLY PATTERNS</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Days With Most Views per Age Group</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graphicFrame>
        <p:nvGraphicFramePr>
          <p:cNvPr id="11" name="Chart 0"/>
          <p:cNvGraphicFramePr/>
          <p:nvPr/>
        </p:nvGraphicFramePr>
        <p:xfrm>
          <a:off x="457200" y="128016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7772400" y="1280160"/>
            <a:ext cx="3977640" cy="1325880"/>
          </a:xfrm>
          <a:prstGeom prst="roundRect">
            <a:avLst>
              <a:gd name="adj" fmla="val 6897"/>
            </a:avLst>
          </a:prstGeom>
          <a:solidFill>
            <a:srgbClr val="12244A"/>
          </a:solidFill>
          <a:ln w="9525">
            <a:solidFill>
              <a:srgbClr val="0057FF">
                <a:alpha val="40000"/>
              </a:srgbClr>
            </a:solidFill>
            <a:prstDash val="solid"/>
          </a:ln>
        </p:spPr>
      </p:sp>
      <p:sp>
        <p:nvSpPr>
          <p:cNvPr id="13" name="Text 10"/>
          <p:cNvSpPr/>
          <p:nvPr/>
        </p:nvSpPr>
        <p:spPr>
          <a:xfrm>
            <a:off x="7909560" y="137160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4" name="Text 11"/>
          <p:cNvSpPr/>
          <p:nvPr/>
        </p:nvSpPr>
        <p:spPr>
          <a:xfrm>
            <a:off x="8503920" y="138988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HIGHEST DAY</a:t>
            </a:r>
            <a:endParaRPr lang="en-US" sz="1200" dirty="0"/>
          </a:p>
        </p:txBody>
      </p:sp>
      <p:sp>
        <p:nvSpPr>
          <p:cNvPr id="15" name="Text 12"/>
          <p:cNvSpPr/>
          <p:nvPr/>
        </p:nvSpPr>
        <p:spPr>
          <a:xfrm>
            <a:off x="7955280" y="178308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Saturday leads the week at ~182 views — weekends are prime streaming time.</a:t>
            </a:r>
            <a:endParaRPr lang="en-US" sz="1050" dirty="0"/>
          </a:p>
        </p:txBody>
      </p:sp>
      <p:sp>
        <p:nvSpPr>
          <p:cNvPr id="16" name="Shape 13"/>
          <p:cNvSpPr/>
          <p:nvPr/>
        </p:nvSpPr>
        <p:spPr>
          <a:xfrm>
            <a:off x="7772400" y="2697480"/>
            <a:ext cx="3977640" cy="1325880"/>
          </a:xfrm>
          <a:prstGeom prst="roundRect">
            <a:avLst>
              <a:gd name="adj" fmla="val 6897"/>
            </a:avLst>
          </a:prstGeom>
          <a:solidFill>
            <a:srgbClr val="12244A"/>
          </a:solidFill>
          <a:ln w="9525">
            <a:solidFill>
              <a:srgbClr val="0057FF">
                <a:alpha val="40000"/>
              </a:srgbClr>
            </a:solidFill>
            <a:prstDash val="solid"/>
          </a:ln>
        </p:spPr>
      </p:sp>
      <p:sp>
        <p:nvSpPr>
          <p:cNvPr id="17" name="Text 14"/>
          <p:cNvSpPr/>
          <p:nvPr/>
        </p:nvSpPr>
        <p:spPr>
          <a:xfrm>
            <a:off x="7909560" y="278892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8" name="Text 15"/>
          <p:cNvSpPr/>
          <p:nvPr/>
        </p:nvSpPr>
        <p:spPr>
          <a:xfrm>
            <a:off x="8503920" y="280720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PEAK AUDIENCE</a:t>
            </a:r>
            <a:endParaRPr lang="en-US" sz="1200" dirty="0"/>
          </a:p>
        </p:txBody>
      </p:sp>
      <p:sp>
        <p:nvSpPr>
          <p:cNvPr id="19" name="Text 16"/>
          <p:cNvSpPr/>
          <p:nvPr/>
        </p:nvSpPr>
        <p:spPr>
          <a:xfrm>
            <a:off x="7955280" y="320040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Youth top every day, peaking Sat &amp; Fri. Adults ramp into the weekend.</a:t>
            </a:r>
            <a:endParaRPr lang="en-US" sz="1050" dirty="0"/>
          </a:p>
        </p:txBody>
      </p:sp>
      <p:sp>
        <p:nvSpPr>
          <p:cNvPr id="20" name="Shape 17"/>
          <p:cNvSpPr/>
          <p:nvPr/>
        </p:nvSpPr>
        <p:spPr>
          <a:xfrm>
            <a:off x="7772400" y="4114800"/>
            <a:ext cx="3977640" cy="1371600"/>
          </a:xfrm>
          <a:prstGeom prst="roundRect">
            <a:avLst>
              <a:gd name="adj" fmla="val 6667"/>
            </a:avLst>
          </a:prstGeom>
          <a:solidFill>
            <a:srgbClr val="12244A"/>
          </a:solidFill>
          <a:ln w="9525">
            <a:solidFill>
              <a:srgbClr val="0057FF">
                <a:alpha val="40000"/>
              </a:srgbClr>
            </a:solidFill>
            <a:prstDash val="solid"/>
          </a:ln>
        </p:spPr>
      </p:sp>
      <p:sp>
        <p:nvSpPr>
          <p:cNvPr id="21" name="Text 18"/>
          <p:cNvSpPr/>
          <p:nvPr/>
        </p:nvSpPr>
        <p:spPr>
          <a:xfrm>
            <a:off x="7909560" y="420624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22" name="Text 19"/>
          <p:cNvSpPr/>
          <p:nvPr/>
        </p:nvSpPr>
        <p:spPr>
          <a:xfrm>
            <a:off x="8503920" y="422452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TREND PATTERN</a:t>
            </a:r>
            <a:endParaRPr lang="en-US" sz="1200" dirty="0"/>
          </a:p>
        </p:txBody>
      </p:sp>
      <p:sp>
        <p:nvSpPr>
          <p:cNvPr id="23" name="Text 20"/>
          <p:cNvSpPr/>
          <p:nvPr/>
        </p:nvSpPr>
        <p:spPr>
          <a:xfrm>
            <a:off x="7955280" y="4617720"/>
            <a:ext cx="3611880" cy="77724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Teens peak Thu then dip Fri. Kids &amp; Pensioners stay flat all week.</a:t>
            </a:r>
            <a:endParaRPr lang="en-US" sz="1050" dirty="0"/>
          </a:p>
        </p:txBody>
      </p:sp>
      <p:sp>
        <p:nvSpPr>
          <p:cNvPr id="24" name="Shape 21"/>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25" name="Text 22"/>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26" name="Text 23"/>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Weekends drive the biggest audiences — programming and promos should follow the Fri–Sat surge.</a:t>
            </a:r>
            <a:endParaRPr lang="en-US" sz="1200" dirty="0"/>
          </a:p>
        </p:txBody>
      </p:sp>
      <p:sp>
        <p:nvSpPr>
          <p:cNvPr id="27" name="Shape 24"/>
          <p:cNvSpPr/>
          <p:nvPr/>
        </p:nvSpPr>
        <p:spPr>
          <a:xfrm>
            <a:off x="457200" y="6446520"/>
            <a:ext cx="11274552" cy="0"/>
          </a:xfrm>
          <a:prstGeom prst="line">
            <a:avLst/>
          </a:prstGeom>
          <a:noFill/>
          <a:ln w="9525">
            <a:solidFill>
              <a:srgbClr val="0057FF">
                <a:alpha val="60000"/>
              </a:srgbClr>
            </a:solidFill>
            <a:prstDash val="solid"/>
          </a:ln>
        </p:spPr>
      </p:sp>
      <p:sp>
        <p:nvSpPr>
          <p:cNvPr id="28" name="Text 2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29" name="Text 26"/>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04 · AUDIENCE GROWTH</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Race With Most Views in Each Month</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graphicFrame>
        <p:nvGraphicFramePr>
          <p:cNvPr id="11" name="Chart 0"/>
          <p:cNvGraphicFramePr/>
          <p:nvPr/>
        </p:nvGraphicFramePr>
        <p:xfrm>
          <a:off x="457200" y="128016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7772400" y="1280160"/>
            <a:ext cx="3977640" cy="1325880"/>
          </a:xfrm>
          <a:prstGeom prst="roundRect">
            <a:avLst>
              <a:gd name="adj" fmla="val 6897"/>
            </a:avLst>
          </a:prstGeom>
          <a:solidFill>
            <a:srgbClr val="12244A"/>
          </a:solidFill>
          <a:ln w="9525">
            <a:solidFill>
              <a:srgbClr val="0057FF">
                <a:alpha val="40000"/>
              </a:srgbClr>
            </a:solidFill>
            <a:prstDash val="solid"/>
          </a:ln>
        </p:spPr>
      </p:sp>
      <p:sp>
        <p:nvSpPr>
          <p:cNvPr id="13" name="Text 10"/>
          <p:cNvSpPr/>
          <p:nvPr/>
        </p:nvSpPr>
        <p:spPr>
          <a:xfrm>
            <a:off x="7909560" y="137160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4" name="Text 11"/>
          <p:cNvSpPr/>
          <p:nvPr/>
        </p:nvSpPr>
        <p:spPr>
          <a:xfrm>
            <a:off x="8503920" y="138988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LARGEST AUDIENCE</a:t>
            </a:r>
            <a:endParaRPr lang="en-US" sz="1200" dirty="0"/>
          </a:p>
        </p:txBody>
      </p:sp>
      <p:sp>
        <p:nvSpPr>
          <p:cNvPr id="15" name="Text 12"/>
          <p:cNvSpPr/>
          <p:nvPr/>
        </p:nvSpPr>
        <p:spPr>
          <a:xfrm>
            <a:off x="7955280" y="178308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Black viewers lead all 3 months — the platform's primary market, growing Jan→Mar.</a:t>
            </a:r>
            <a:endParaRPr lang="en-US" sz="1050" dirty="0"/>
          </a:p>
        </p:txBody>
      </p:sp>
      <p:sp>
        <p:nvSpPr>
          <p:cNvPr id="16" name="Shape 13"/>
          <p:cNvSpPr/>
          <p:nvPr/>
        </p:nvSpPr>
        <p:spPr>
          <a:xfrm>
            <a:off x="7772400" y="2697480"/>
            <a:ext cx="3977640" cy="1325880"/>
          </a:xfrm>
          <a:prstGeom prst="roundRect">
            <a:avLst>
              <a:gd name="adj" fmla="val 6897"/>
            </a:avLst>
          </a:prstGeom>
          <a:solidFill>
            <a:srgbClr val="12244A"/>
          </a:solidFill>
          <a:ln w="9525">
            <a:solidFill>
              <a:srgbClr val="0057FF">
                <a:alpha val="40000"/>
              </a:srgbClr>
            </a:solidFill>
            <a:prstDash val="solid"/>
          </a:ln>
        </p:spPr>
      </p:sp>
      <p:sp>
        <p:nvSpPr>
          <p:cNvPr id="17" name="Text 14"/>
          <p:cNvSpPr/>
          <p:nvPr/>
        </p:nvSpPr>
        <p:spPr>
          <a:xfrm>
            <a:off x="7909560" y="278892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8" name="Text 15"/>
          <p:cNvSpPr/>
          <p:nvPr/>
        </p:nvSpPr>
        <p:spPr>
          <a:xfrm>
            <a:off x="8503920" y="280720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FASTEST GROWTH</a:t>
            </a:r>
            <a:endParaRPr lang="en-US" sz="1200" dirty="0"/>
          </a:p>
        </p:txBody>
      </p:sp>
      <p:sp>
        <p:nvSpPr>
          <p:cNvPr id="19" name="Text 16"/>
          <p:cNvSpPr/>
          <p:nvPr/>
        </p:nvSpPr>
        <p:spPr>
          <a:xfrm>
            <a:off x="7955280" y="320040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Indian/Asian audience surged Jan→Mar (17→105) — cricket content clearly resonated.</a:t>
            </a:r>
            <a:endParaRPr lang="en-US" sz="1050" dirty="0"/>
          </a:p>
        </p:txBody>
      </p:sp>
      <p:sp>
        <p:nvSpPr>
          <p:cNvPr id="20" name="Shape 17"/>
          <p:cNvSpPr/>
          <p:nvPr/>
        </p:nvSpPr>
        <p:spPr>
          <a:xfrm>
            <a:off x="7772400" y="4114800"/>
            <a:ext cx="3977640" cy="1371600"/>
          </a:xfrm>
          <a:prstGeom prst="roundRect">
            <a:avLst>
              <a:gd name="adj" fmla="val 6667"/>
            </a:avLst>
          </a:prstGeom>
          <a:solidFill>
            <a:srgbClr val="12244A"/>
          </a:solidFill>
          <a:ln w="9525">
            <a:solidFill>
              <a:srgbClr val="0057FF">
                <a:alpha val="40000"/>
              </a:srgbClr>
            </a:solidFill>
            <a:prstDash val="solid"/>
          </a:ln>
        </p:spPr>
      </p:sp>
      <p:sp>
        <p:nvSpPr>
          <p:cNvPr id="21" name="Text 18"/>
          <p:cNvSpPr/>
          <p:nvPr/>
        </p:nvSpPr>
        <p:spPr>
          <a:xfrm>
            <a:off x="7909560" y="420624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22" name="Text 19"/>
          <p:cNvSpPr/>
          <p:nvPr/>
        </p:nvSpPr>
        <p:spPr>
          <a:xfrm>
            <a:off x="8503920" y="422452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ENGAGEMENT LIFT</a:t>
            </a:r>
            <a:endParaRPr lang="en-US" sz="1200" dirty="0"/>
          </a:p>
        </p:txBody>
      </p:sp>
      <p:sp>
        <p:nvSpPr>
          <p:cNvPr id="23" name="Text 20"/>
          <p:cNvSpPr/>
          <p:nvPr/>
        </p:nvSpPr>
        <p:spPr>
          <a:xfrm>
            <a:off x="7955280" y="4617720"/>
            <a:ext cx="3611880" cy="77724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March is peak month across every group. White &amp; Other are smaller but growing — targeted content opportunity.</a:t>
            </a:r>
            <a:endParaRPr lang="en-US" sz="1050" dirty="0"/>
          </a:p>
        </p:txBody>
      </p:sp>
      <p:sp>
        <p:nvSpPr>
          <p:cNvPr id="24" name="Shape 21"/>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25" name="Text 22"/>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26" name="Text 23"/>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March is the breakout month — Black audiences anchor volume, Indian/Asian delivers the fastest growth.</a:t>
            </a:r>
            <a:endParaRPr lang="en-US" sz="1200" dirty="0"/>
          </a:p>
        </p:txBody>
      </p:sp>
      <p:sp>
        <p:nvSpPr>
          <p:cNvPr id="27" name="Shape 24"/>
          <p:cNvSpPr/>
          <p:nvPr/>
        </p:nvSpPr>
        <p:spPr>
          <a:xfrm>
            <a:off x="457200" y="6446520"/>
            <a:ext cx="11274552" cy="0"/>
          </a:xfrm>
          <a:prstGeom prst="line">
            <a:avLst/>
          </a:prstGeom>
          <a:noFill/>
          <a:ln w="9525">
            <a:solidFill>
              <a:srgbClr val="0057FF">
                <a:alpha val="60000"/>
              </a:srgbClr>
            </a:solidFill>
            <a:prstDash val="solid"/>
          </a:ln>
        </p:spPr>
      </p:sp>
      <p:sp>
        <p:nvSpPr>
          <p:cNvPr id="28" name="Text 2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29" name="Text 26"/>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05 · DAYPART ANALYSIS</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Period With Most Views During the Day</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graphicFrame>
        <p:nvGraphicFramePr>
          <p:cNvPr id="11" name="Chart 0"/>
          <p:cNvGraphicFramePr/>
          <p:nvPr/>
        </p:nvGraphicFramePr>
        <p:xfrm>
          <a:off x="457200" y="128016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7772400" y="1280160"/>
            <a:ext cx="3977640" cy="1325880"/>
          </a:xfrm>
          <a:prstGeom prst="roundRect">
            <a:avLst>
              <a:gd name="adj" fmla="val 6897"/>
            </a:avLst>
          </a:prstGeom>
          <a:solidFill>
            <a:srgbClr val="12244A"/>
          </a:solidFill>
          <a:ln w="9525">
            <a:solidFill>
              <a:srgbClr val="0057FF">
                <a:alpha val="40000"/>
              </a:srgbClr>
            </a:solidFill>
            <a:prstDash val="solid"/>
          </a:ln>
        </p:spPr>
      </p:sp>
      <p:sp>
        <p:nvSpPr>
          <p:cNvPr id="13" name="Text 10"/>
          <p:cNvSpPr/>
          <p:nvPr/>
        </p:nvSpPr>
        <p:spPr>
          <a:xfrm>
            <a:off x="7909560" y="137160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4" name="Text 11"/>
          <p:cNvSpPr/>
          <p:nvPr/>
        </p:nvSpPr>
        <p:spPr>
          <a:xfrm>
            <a:off x="8503920" y="138988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PEAK PERIOD</a:t>
            </a:r>
            <a:endParaRPr lang="en-US" sz="1200" dirty="0"/>
          </a:p>
        </p:txBody>
      </p:sp>
      <p:sp>
        <p:nvSpPr>
          <p:cNvPr id="15" name="Text 12"/>
          <p:cNvSpPr/>
          <p:nvPr/>
        </p:nvSpPr>
        <p:spPr>
          <a:xfrm>
            <a:off x="7955280" y="178308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Afternoon leads, closely followed by Morning — daytime beats late evening.</a:t>
            </a:r>
            <a:endParaRPr lang="en-US" sz="1050" dirty="0"/>
          </a:p>
        </p:txBody>
      </p:sp>
      <p:sp>
        <p:nvSpPr>
          <p:cNvPr id="16" name="Shape 13"/>
          <p:cNvSpPr/>
          <p:nvPr/>
        </p:nvSpPr>
        <p:spPr>
          <a:xfrm>
            <a:off x="7772400" y="2697480"/>
            <a:ext cx="3977640" cy="1325880"/>
          </a:xfrm>
          <a:prstGeom prst="roundRect">
            <a:avLst>
              <a:gd name="adj" fmla="val 6897"/>
            </a:avLst>
          </a:prstGeom>
          <a:solidFill>
            <a:srgbClr val="12244A"/>
          </a:solidFill>
          <a:ln w="9525">
            <a:solidFill>
              <a:srgbClr val="0057FF">
                <a:alpha val="40000"/>
              </a:srgbClr>
            </a:solidFill>
            <a:prstDash val="solid"/>
          </a:ln>
        </p:spPr>
      </p:sp>
      <p:sp>
        <p:nvSpPr>
          <p:cNvPr id="17" name="Text 14"/>
          <p:cNvSpPr/>
          <p:nvPr/>
        </p:nvSpPr>
        <p:spPr>
          <a:xfrm>
            <a:off x="7909560" y="278892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8" name="Text 15"/>
          <p:cNvSpPr/>
          <p:nvPr/>
        </p:nvSpPr>
        <p:spPr>
          <a:xfrm>
            <a:off x="8503920" y="280720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PEAK DAY</a:t>
            </a:r>
            <a:endParaRPr lang="en-US" sz="1200" dirty="0"/>
          </a:p>
        </p:txBody>
      </p:sp>
      <p:sp>
        <p:nvSpPr>
          <p:cNvPr id="19" name="Text 16"/>
          <p:cNvSpPr/>
          <p:nvPr/>
        </p:nvSpPr>
        <p:spPr>
          <a:xfrm>
            <a:off x="7955280" y="320040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Saturday tops the week, driven by strong Morning + Afternoon viewing.</a:t>
            </a:r>
            <a:endParaRPr lang="en-US" sz="1050" dirty="0"/>
          </a:p>
        </p:txBody>
      </p:sp>
      <p:sp>
        <p:nvSpPr>
          <p:cNvPr id="20" name="Shape 17"/>
          <p:cNvSpPr/>
          <p:nvPr/>
        </p:nvSpPr>
        <p:spPr>
          <a:xfrm>
            <a:off x="7772400" y="4114800"/>
            <a:ext cx="3977640" cy="1371600"/>
          </a:xfrm>
          <a:prstGeom prst="roundRect">
            <a:avLst>
              <a:gd name="adj" fmla="val 6667"/>
            </a:avLst>
          </a:prstGeom>
          <a:solidFill>
            <a:srgbClr val="12244A"/>
          </a:solidFill>
          <a:ln w="9525">
            <a:solidFill>
              <a:srgbClr val="0057FF">
                <a:alpha val="40000"/>
              </a:srgbClr>
            </a:solidFill>
            <a:prstDash val="solid"/>
          </a:ln>
        </p:spPr>
      </p:sp>
      <p:sp>
        <p:nvSpPr>
          <p:cNvPr id="21" name="Text 18"/>
          <p:cNvSpPr/>
          <p:nvPr/>
        </p:nvSpPr>
        <p:spPr>
          <a:xfrm>
            <a:off x="7909560" y="420624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22" name="Text 19"/>
          <p:cNvSpPr/>
          <p:nvPr/>
        </p:nvSpPr>
        <p:spPr>
          <a:xfrm>
            <a:off x="8503920" y="422452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OPPORTUNITY</a:t>
            </a:r>
            <a:endParaRPr lang="en-US" sz="1200" dirty="0"/>
          </a:p>
        </p:txBody>
      </p:sp>
      <p:sp>
        <p:nvSpPr>
          <p:cNvPr id="23" name="Text 20"/>
          <p:cNvSpPr/>
          <p:nvPr/>
        </p:nvSpPr>
        <p:spPr>
          <a:xfrm>
            <a:off x="7955280" y="4617720"/>
            <a:ext cx="3611880" cy="77724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Late Night is the weakest slot all week — ripe for movie marathons &amp; rewards content.</a:t>
            </a:r>
            <a:endParaRPr lang="en-US" sz="1050" dirty="0"/>
          </a:p>
        </p:txBody>
      </p:sp>
      <p:sp>
        <p:nvSpPr>
          <p:cNvPr id="24" name="Shape 21"/>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25" name="Text 22"/>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26" name="Text 23"/>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Daytime rules — weekends amplify it. Late Night is the clearest programming gap.</a:t>
            </a:r>
            <a:endParaRPr lang="en-US" sz="1200" dirty="0"/>
          </a:p>
        </p:txBody>
      </p:sp>
      <p:sp>
        <p:nvSpPr>
          <p:cNvPr id="27" name="Shape 24"/>
          <p:cNvSpPr/>
          <p:nvPr/>
        </p:nvSpPr>
        <p:spPr>
          <a:xfrm>
            <a:off x="457200" y="6446520"/>
            <a:ext cx="11274552" cy="0"/>
          </a:xfrm>
          <a:prstGeom prst="line">
            <a:avLst/>
          </a:prstGeom>
          <a:noFill/>
          <a:ln w="9525">
            <a:solidFill>
              <a:srgbClr val="0057FF">
                <a:alpha val="60000"/>
              </a:srgbClr>
            </a:solidFill>
            <a:prstDash val="solid"/>
          </a:ln>
        </p:spPr>
      </p:sp>
      <p:sp>
        <p:nvSpPr>
          <p:cNvPr id="28" name="Text 2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29" name="Text 26"/>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06 · GEOGRAPHIC INSIGHT</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Most Streaming Gender by Province</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graphicFrame>
        <p:nvGraphicFramePr>
          <p:cNvPr id="11" name="Chart 0"/>
          <p:cNvGraphicFramePr/>
          <p:nvPr/>
        </p:nvGraphicFramePr>
        <p:xfrm>
          <a:off x="457200" y="128016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7772400" y="1280160"/>
            <a:ext cx="3977640" cy="1325880"/>
          </a:xfrm>
          <a:prstGeom prst="roundRect">
            <a:avLst>
              <a:gd name="adj" fmla="val 6897"/>
            </a:avLst>
          </a:prstGeom>
          <a:solidFill>
            <a:srgbClr val="12244A"/>
          </a:solidFill>
          <a:ln w="9525">
            <a:solidFill>
              <a:srgbClr val="0057FF">
                <a:alpha val="40000"/>
              </a:srgbClr>
            </a:solidFill>
            <a:prstDash val="solid"/>
          </a:ln>
        </p:spPr>
      </p:sp>
      <p:sp>
        <p:nvSpPr>
          <p:cNvPr id="13" name="Text 10"/>
          <p:cNvSpPr/>
          <p:nvPr/>
        </p:nvSpPr>
        <p:spPr>
          <a:xfrm>
            <a:off x="7909560" y="137160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4" name="Text 11"/>
          <p:cNvSpPr/>
          <p:nvPr/>
        </p:nvSpPr>
        <p:spPr>
          <a:xfrm>
            <a:off x="8503920" y="138988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GAUTENG DOMINATES</a:t>
            </a:r>
            <a:endParaRPr lang="en-US" sz="1200" dirty="0"/>
          </a:p>
        </p:txBody>
      </p:sp>
      <p:sp>
        <p:nvSpPr>
          <p:cNvPr id="15" name="Text 12"/>
          <p:cNvSpPr/>
          <p:nvPr/>
        </p:nvSpPr>
        <p:spPr>
          <a:xfrm>
            <a:off x="7955280" y="178308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Gauteng is the #1 market at 335 viewers — priority region for content &amp; marketing.</a:t>
            </a:r>
            <a:endParaRPr lang="en-US" sz="1050" dirty="0"/>
          </a:p>
        </p:txBody>
      </p:sp>
      <p:sp>
        <p:nvSpPr>
          <p:cNvPr id="16" name="Shape 13"/>
          <p:cNvSpPr/>
          <p:nvPr/>
        </p:nvSpPr>
        <p:spPr>
          <a:xfrm>
            <a:off x="7772400" y="2697480"/>
            <a:ext cx="3977640" cy="1325880"/>
          </a:xfrm>
          <a:prstGeom prst="roundRect">
            <a:avLst>
              <a:gd name="adj" fmla="val 6897"/>
            </a:avLst>
          </a:prstGeom>
          <a:solidFill>
            <a:srgbClr val="12244A"/>
          </a:solidFill>
          <a:ln w="9525">
            <a:solidFill>
              <a:srgbClr val="0057FF">
                <a:alpha val="40000"/>
              </a:srgbClr>
            </a:solidFill>
            <a:prstDash val="solid"/>
          </a:ln>
        </p:spPr>
      </p:sp>
      <p:sp>
        <p:nvSpPr>
          <p:cNvPr id="17" name="Text 14"/>
          <p:cNvSpPr/>
          <p:nvPr/>
        </p:nvSpPr>
        <p:spPr>
          <a:xfrm>
            <a:off x="7909560" y="278892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18" name="Text 15"/>
          <p:cNvSpPr/>
          <p:nvPr/>
        </p:nvSpPr>
        <p:spPr>
          <a:xfrm>
            <a:off x="8503920" y="280720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MALE-SKEWED</a:t>
            </a:r>
            <a:endParaRPr lang="en-US" sz="1200" dirty="0"/>
          </a:p>
        </p:txBody>
      </p:sp>
      <p:sp>
        <p:nvSpPr>
          <p:cNvPr id="19" name="Text 16"/>
          <p:cNvSpPr/>
          <p:nvPr/>
        </p:nvSpPr>
        <p:spPr>
          <a:xfrm>
            <a:off x="7955280" y="3200400"/>
            <a:ext cx="3611880" cy="73152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Males dominate every province. Content currently resonates far more with male audiences.</a:t>
            </a:r>
            <a:endParaRPr lang="en-US" sz="1050" dirty="0"/>
          </a:p>
        </p:txBody>
      </p:sp>
      <p:sp>
        <p:nvSpPr>
          <p:cNvPr id="20" name="Shape 17"/>
          <p:cNvSpPr/>
          <p:nvPr/>
        </p:nvSpPr>
        <p:spPr>
          <a:xfrm>
            <a:off x="7772400" y="4114800"/>
            <a:ext cx="3977640" cy="1371600"/>
          </a:xfrm>
          <a:prstGeom prst="roundRect">
            <a:avLst>
              <a:gd name="adj" fmla="val 6667"/>
            </a:avLst>
          </a:prstGeom>
          <a:solidFill>
            <a:srgbClr val="12244A"/>
          </a:solidFill>
          <a:ln w="9525">
            <a:solidFill>
              <a:srgbClr val="0057FF">
                <a:alpha val="40000"/>
              </a:srgbClr>
            </a:solidFill>
            <a:prstDash val="solid"/>
          </a:ln>
        </p:spPr>
      </p:sp>
      <p:sp>
        <p:nvSpPr>
          <p:cNvPr id="21" name="Text 18"/>
          <p:cNvSpPr/>
          <p:nvPr/>
        </p:nvSpPr>
        <p:spPr>
          <a:xfrm>
            <a:off x="7909560" y="4206240"/>
            <a:ext cx="548640" cy="457200"/>
          </a:xfrm>
          <a:prstGeom prst="rect">
            <a:avLst/>
          </a:prstGeom>
          <a:noFill/>
          <a:ln/>
        </p:spPr>
        <p:txBody>
          <a:bodyPr wrap="square" rtlCol="0" anchor="ctr"/>
          <a:lstStyle/>
          <a:p>
            <a:pPr marL="0" indent="0">
              <a:buNone/>
            </a:pPr>
            <a:r>
              <a:rPr lang="en-US" sz="2200" dirty="0">
                <a:solidFill>
                  <a:srgbClr val="F28C28"/>
                </a:solidFill>
              </a:rPr>
              <a:t>👩</a:t>
            </a:r>
            <a:endParaRPr lang="en-US" sz="2200" dirty="0"/>
          </a:p>
        </p:txBody>
      </p:sp>
      <p:sp>
        <p:nvSpPr>
          <p:cNvPr id="22" name="Text 19"/>
          <p:cNvSpPr/>
          <p:nvPr/>
        </p:nvSpPr>
        <p:spPr>
          <a:xfrm>
            <a:off x="8503920" y="4224528"/>
            <a:ext cx="3154680" cy="292608"/>
          </a:xfrm>
          <a:prstGeom prst="rect">
            <a:avLst/>
          </a:prstGeom>
          <a:noFill/>
          <a:ln/>
        </p:spPr>
        <p:txBody>
          <a:bodyPr wrap="square" rtlCol="0" anchor="ctr"/>
          <a:lstStyle/>
          <a:p>
            <a:pPr marL="0" indent="0">
              <a:buNone/>
            </a:pPr>
            <a:r>
              <a:rPr lang="en-US" sz="1200" b="1" kern="0" spc="200" dirty="0">
                <a:solidFill>
                  <a:srgbClr val="F28C28"/>
                </a:solidFill>
                <a:latin typeface="Calibri" pitchFamily="34" charset="0"/>
                <a:ea typeface="Calibri" pitchFamily="34" charset="-122"/>
                <a:cs typeface="Calibri" pitchFamily="34" charset="-120"/>
              </a:rPr>
              <a:t>FEMALE GAP</a:t>
            </a:r>
            <a:endParaRPr lang="en-US" sz="1200" dirty="0"/>
          </a:p>
        </p:txBody>
      </p:sp>
      <p:sp>
        <p:nvSpPr>
          <p:cNvPr id="23" name="Text 20"/>
          <p:cNvSpPr/>
          <p:nvPr/>
        </p:nvSpPr>
        <p:spPr>
          <a:xfrm>
            <a:off x="7955280" y="4617720"/>
            <a:ext cx="3611880" cy="77724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Females only ~11% nationally — a major, untapped growth opportunity across every province.</a:t>
            </a:r>
            <a:endParaRPr lang="en-US" sz="1050" dirty="0"/>
          </a:p>
        </p:txBody>
      </p:sp>
      <p:sp>
        <p:nvSpPr>
          <p:cNvPr id="24" name="Shape 21"/>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25" name="Text 22"/>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26" name="Text 23"/>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Gauteng anchors the audience; the female segment is the single biggest addressable gap.</a:t>
            </a:r>
            <a:endParaRPr lang="en-US" sz="1200" dirty="0"/>
          </a:p>
        </p:txBody>
      </p:sp>
      <p:sp>
        <p:nvSpPr>
          <p:cNvPr id="27" name="Shape 24"/>
          <p:cNvSpPr/>
          <p:nvPr/>
        </p:nvSpPr>
        <p:spPr>
          <a:xfrm>
            <a:off x="457200" y="6446520"/>
            <a:ext cx="11274552" cy="0"/>
          </a:xfrm>
          <a:prstGeom prst="line">
            <a:avLst/>
          </a:prstGeom>
          <a:noFill/>
          <a:ln w="9525">
            <a:solidFill>
              <a:srgbClr val="0057FF">
                <a:alpha val="60000"/>
              </a:srgbClr>
            </a:solidFill>
            <a:prstDash val="solid"/>
          </a:ln>
        </p:spPr>
      </p:sp>
      <p:sp>
        <p:nvSpPr>
          <p:cNvPr id="28" name="Text 2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29" name="Text 26"/>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07 · RECOMMENDATIONS</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Strategic Recommendations for Bright TV Growth</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sp>
        <p:nvSpPr>
          <p:cNvPr id="11" name="Shape 9"/>
          <p:cNvSpPr/>
          <p:nvPr/>
        </p:nvSpPr>
        <p:spPr>
          <a:xfrm>
            <a:off x="457200" y="1371600"/>
            <a:ext cx="3639312" cy="2103120"/>
          </a:xfrm>
          <a:prstGeom prst="roundRect">
            <a:avLst>
              <a:gd name="adj" fmla="val 4348"/>
            </a:avLst>
          </a:prstGeom>
          <a:solidFill>
            <a:srgbClr val="12244A"/>
          </a:solidFill>
          <a:ln w="9525">
            <a:solidFill>
              <a:srgbClr val="0057FF">
                <a:alpha val="40000"/>
              </a:srgbClr>
            </a:solidFill>
            <a:prstDash val="solid"/>
          </a:ln>
        </p:spPr>
      </p:sp>
      <p:sp>
        <p:nvSpPr>
          <p:cNvPr id="12" name="Shape 10"/>
          <p:cNvSpPr/>
          <p:nvPr/>
        </p:nvSpPr>
        <p:spPr>
          <a:xfrm>
            <a:off x="457200" y="1371600"/>
            <a:ext cx="109728" cy="2103120"/>
          </a:xfrm>
          <a:prstGeom prst="rect">
            <a:avLst/>
          </a:prstGeom>
          <a:solidFill>
            <a:srgbClr val="F28C28"/>
          </a:solidFill>
          <a:ln w="12700">
            <a:solidFill>
              <a:srgbClr val="F28C28"/>
            </a:solidFill>
            <a:prstDash val="solid"/>
          </a:ln>
        </p:spPr>
      </p:sp>
      <p:sp>
        <p:nvSpPr>
          <p:cNvPr id="13" name="Text 11"/>
          <p:cNvSpPr/>
          <p:nvPr/>
        </p:nvSpPr>
        <p:spPr>
          <a:xfrm>
            <a:off x="685800" y="1508760"/>
            <a:ext cx="822960" cy="640080"/>
          </a:xfrm>
          <a:prstGeom prst="rect">
            <a:avLst/>
          </a:prstGeom>
          <a:noFill/>
          <a:ln/>
        </p:spPr>
        <p:txBody>
          <a:bodyPr wrap="square" rtlCol="0" anchor="ctr"/>
          <a:lstStyle/>
          <a:p>
            <a:pPr marL="0" indent="0">
              <a:buNone/>
            </a:pPr>
            <a:r>
              <a:rPr lang="en-US" sz="3400" dirty="0">
                <a:solidFill>
                  <a:srgbClr val="000000"/>
                </a:solidFill>
              </a:rPr>
              <a:t>🎬</a:t>
            </a:r>
            <a:endParaRPr lang="en-US" sz="3400" dirty="0"/>
          </a:p>
        </p:txBody>
      </p:sp>
      <p:sp>
        <p:nvSpPr>
          <p:cNvPr id="14" name="Text 12"/>
          <p:cNvSpPr/>
          <p:nvPr/>
        </p:nvSpPr>
        <p:spPr>
          <a:xfrm>
            <a:off x="1508760" y="1554480"/>
            <a:ext cx="2450592"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Boost Niche Channels</a:t>
            </a:r>
            <a:endParaRPr lang="en-US" sz="1400" dirty="0"/>
          </a:p>
        </p:txBody>
      </p:sp>
      <p:sp>
        <p:nvSpPr>
          <p:cNvPr id="15" name="Text 13"/>
          <p:cNvSpPr/>
          <p:nvPr/>
        </p:nvSpPr>
        <p:spPr>
          <a:xfrm>
            <a:off x="685800" y="2240280"/>
            <a:ext cx="3273552" cy="777240"/>
          </a:xfrm>
          <a:prstGeom prst="rect">
            <a:avLst/>
          </a:prstGeom>
          <a:noFill/>
          <a:ln/>
        </p:spPr>
        <p:txBody>
          <a:bodyPr wrap="square" rtlCol="0" anchor="ctr"/>
          <a:lstStyle/>
          <a:p>
            <a:pPr marL="0" indent="0">
              <a:buNone/>
            </a:pPr>
            <a:r>
              <a:rPr lang="en-US" sz="1050" dirty="0">
                <a:solidFill>
                  <a:srgbClr val="EAEAEA"/>
                </a:solidFill>
                <a:latin typeface="Calibri" pitchFamily="34" charset="0"/>
                <a:ea typeface="Calibri" pitchFamily="34" charset="-122"/>
                <a:cs typeface="Calibri" pitchFamily="34" charset="-120"/>
              </a:rPr>
              <a:t>Refresh kykNET, MK &amp; Vuzu with fresh local dramas and modern music shows.</a:t>
            </a:r>
            <a:endParaRPr lang="en-US" sz="1050" dirty="0"/>
          </a:p>
        </p:txBody>
      </p:sp>
      <p:sp>
        <p:nvSpPr>
          <p:cNvPr id="16" name="Shape 14"/>
          <p:cNvSpPr/>
          <p:nvPr/>
        </p:nvSpPr>
        <p:spPr>
          <a:xfrm>
            <a:off x="685800" y="3063240"/>
            <a:ext cx="3182112" cy="0"/>
          </a:xfrm>
          <a:prstGeom prst="line">
            <a:avLst/>
          </a:prstGeom>
          <a:noFill/>
          <a:ln w="6350">
            <a:solidFill>
              <a:srgbClr val="0057FF">
                <a:alpha val="60000"/>
              </a:srgbClr>
            </a:solidFill>
            <a:prstDash val="solid"/>
          </a:ln>
        </p:spPr>
      </p:sp>
      <p:sp>
        <p:nvSpPr>
          <p:cNvPr id="17" name="Text 15"/>
          <p:cNvSpPr/>
          <p:nvPr/>
        </p:nvSpPr>
        <p:spPr>
          <a:xfrm>
            <a:off x="685800" y="3108960"/>
            <a:ext cx="914400" cy="256032"/>
          </a:xfrm>
          <a:prstGeom prst="rect">
            <a:avLst/>
          </a:prstGeom>
          <a:noFill/>
          <a:ln/>
        </p:spPr>
        <p:txBody>
          <a:bodyPr wrap="square" rtlCol="0" anchor="ctr"/>
          <a:lstStyle/>
          <a:p>
            <a:pPr marL="0" indent="0">
              <a:buNone/>
            </a:pPr>
            <a:r>
              <a:rPr lang="en-US" sz="800" b="1" kern="0" spc="200" dirty="0">
                <a:solidFill>
                  <a:srgbClr val="F28C28"/>
                </a:solidFill>
                <a:latin typeface="Calibri" pitchFamily="34" charset="0"/>
                <a:ea typeface="Calibri" pitchFamily="34" charset="-122"/>
                <a:cs typeface="Calibri" pitchFamily="34" charset="-120"/>
              </a:rPr>
              <a:t>IMPACT</a:t>
            </a:r>
            <a:endParaRPr lang="en-US" sz="800" dirty="0"/>
          </a:p>
        </p:txBody>
      </p:sp>
      <p:sp>
        <p:nvSpPr>
          <p:cNvPr id="18" name="Text 16"/>
          <p:cNvSpPr/>
          <p:nvPr/>
        </p:nvSpPr>
        <p:spPr>
          <a:xfrm>
            <a:off x="1508760" y="3108960"/>
            <a:ext cx="2450592" cy="256032"/>
          </a:xfrm>
          <a:prstGeom prst="rect">
            <a:avLst/>
          </a:prstGeom>
          <a:noFill/>
          <a:ln/>
        </p:spPr>
        <p:txBody>
          <a:bodyPr wrap="square"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Lift low-performing channel share</a:t>
            </a:r>
            <a:endParaRPr lang="en-US" sz="1000" dirty="0"/>
          </a:p>
        </p:txBody>
      </p:sp>
      <p:sp>
        <p:nvSpPr>
          <p:cNvPr id="19" name="Shape 17"/>
          <p:cNvSpPr/>
          <p:nvPr/>
        </p:nvSpPr>
        <p:spPr>
          <a:xfrm>
            <a:off x="4233672" y="1371600"/>
            <a:ext cx="3639312" cy="2103120"/>
          </a:xfrm>
          <a:prstGeom prst="roundRect">
            <a:avLst>
              <a:gd name="adj" fmla="val 4348"/>
            </a:avLst>
          </a:prstGeom>
          <a:solidFill>
            <a:srgbClr val="12244A"/>
          </a:solidFill>
          <a:ln w="9525">
            <a:solidFill>
              <a:srgbClr val="0057FF">
                <a:alpha val="40000"/>
              </a:srgbClr>
            </a:solidFill>
            <a:prstDash val="solid"/>
          </a:ln>
        </p:spPr>
      </p:sp>
      <p:sp>
        <p:nvSpPr>
          <p:cNvPr id="20" name="Shape 18"/>
          <p:cNvSpPr/>
          <p:nvPr/>
        </p:nvSpPr>
        <p:spPr>
          <a:xfrm>
            <a:off x="4233672" y="1371600"/>
            <a:ext cx="109728" cy="2103120"/>
          </a:xfrm>
          <a:prstGeom prst="rect">
            <a:avLst/>
          </a:prstGeom>
          <a:solidFill>
            <a:srgbClr val="F28C28"/>
          </a:solidFill>
          <a:ln w="12700">
            <a:solidFill>
              <a:srgbClr val="F28C28"/>
            </a:solidFill>
            <a:prstDash val="solid"/>
          </a:ln>
        </p:spPr>
      </p:sp>
      <p:sp>
        <p:nvSpPr>
          <p:cNvPr id="21" name="Text 19"/>
          <p:cNvSpPr/>
          <p:nvPr/>
        </p:nvSpPr>
        <p:spPr>
          <a:xfrm>
            <a:off x="4462272" y="1508760"/>
            <a:ext cx="822960" cy="640080"/>
          </a:xfrm>
          <a:prstGeom prst="rect">
            <a:avLst/>
          </a:prstGeom>
          <a:noFill/>
          <a:ln/>
        </p:spPr>
        <p:txBody>
          <a:bodyPr wrap="square" rtlCol="0" anchor="ctr"/>
          <a:lstStyle/>
          <a:p>
            <a:pPr marL="0" indent="0">
              <a:buNone/>
            </a:pPr>
            <a:r>
              <a:rPr lang="en-US" sz="3400" dirty="0">
                <a:solidFill>
                  <a:srgbClr val="000000"/>
                </a:solidFill>
              </a:rPr>
              <a:t>👶</a:t>
            </a:r>
            <a:endParaRPr lang="en-US" sz="3400" dirty="0"/>
          </a:p>
        </p:txBody>
      </p:sp>
      <p:sp>
        <p:nvSpPr>
          <p:cNvPr id="22" name="Text 20"/>
          <p:cNvSpPr/>
          <p:nvPr/>
        </p:nvSpPr>
        <p:spPr>
          <a:xfrm>
            <a:off x="5285232" y="1554480"/>
            <a:ext cx="2450592"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Grow Kids' Content</a:t>
            </a:r>
            <a:endParaRPr lang="en-US" sz="1400" dirty="0"/>
          </a:p>
        </p:txBody>
      </p:sp>
      <p:sp>
        <p:nvSpPr>
          <p:cNvPr id="23" name="Text 21"/>
          <p:cNvSpPr/>
          <p:nvPr/>
        </p:nvSpPr>
        <p:spPr>
          <a:xfrm>
            <a:off x="4462272" y="2240280"/>
            <a:ext cx="3273552" cy="777240"/>
          </a:xfrm>
          <a:prstGeom prst="rect">
            <a:avLst/>
          </a:prstGeom>
          <a:noFill/>
          <a:ln/>
        </p:spPr>
        <p:txBody>
          <a:bodyPr wrap="square" rtlCol="0" anchor="ctr"/>
          <a:lstStyle/>
          <a:p>
            <a:pPr marL="0" indent="0">
              <a:buNone/>
            </a:pPr>
            <a:r>
              <a:rPr lang="en-US" sz="1050" dirty="0">
                <a:solidFill>
                  <a:srgbClr val="EAEAEA"/>
                </a:solidFill>
                <a:latin typeface="Calibri" pitchFamily="34" charset="0"/>
                <a:ea typeface="Calibri" pitchFamily="34" charset="-122"/>
                <a:cs typeface="Calibri" pitchFamily="34" charset="-120"/>
              </a:rPr>
              <a:t>Create better kids' shows and market directly to parents.</a:t>
            </a:r>
            <a:endParaRPr lang="en-US" sz="1050" dirty="0"/>
          </a:p>
        </p:txBody>
      </p:sp>
      <p:sp>
        <p:nvSpPr>
          <p:cNvPr id="24" name="Shape 22"/>
          <p:cNvSpPr/>
          <p:nvPr/>
        </p:nvSpPr>
        <p:spPr>
          <a:xfrm>
            <a:off x="4462272" y="3063240"/>
            <a:ext cx="3182112" cy="0"/>
          </a:xfrm>
          <a:prstGeom prst="line">
            <a:avLst/>
          </a:prstGeom>
          <a:noFill/>
          <a:ln w="6350">
            <a:solidFill>
              <a:srgbClr val="0057FF">
                <a:alpha val="60000"/>
              </a:srgbClr>
            </a:solidFill>
            <a:prstDash val="solid"/>
          </a:ln>
        </p:spPr>
      </p:sp>
      <p:sp>
        <p:nvSpPr>
          <p:cNvPr id="25" name="Text 23"/>
          <p:cNvSpPr/>
          <p:nvPr/>
        </p:nvSpPr>
        <p:spPr>
          <a:xfrm>
            <a:off x="4462272" y="3108960"/>
            <a:ext cx="914400" cy="256032"/>
          </a:xfrm>
          <a:prstGeom prst="rect">
            <a:avLst/>
          </a:prstGeom>
          <a:noFill/>
          <a:ln/>
        </p:spPr>
        <p:txBody>
          <a:bodyPr wrap="square" rtlCol="0" anchor="ctr"/>
          <a:lstStyle/>
          <a:p>
            <a:pPr marL="0" indent="0">
              <a:buNone/>
            </a:pPr>
            <a:r>
              <a:rPr lang="en-US" sz="800" b="1" kern="0" spc="200" dirty="0">
                <a:solidFill>
                  <a:srgbClr val="F28C28"/>
                </a:solidFill>
                <a:latin typeface="Calibri" pitchFamily="34" charset="0"/>
                <a:ea typeface="Calibri" pitchFamily="34" charset="-122"/>
                <a:cs typeface="Calibri" pitchFamily="34" charset="-120"/>
              </a:rPr>
              <a:t>IMPACT</a:t>
            </a:r>
            <a:endParaRPr lang="en-US" sz="800" dirty="0"/>
          </a:p>
        </p:txBody>
      </p:sp>
      <p:sp>
        <p:nvSpPr>
          <p:cNvPr id="26" name="Text 24"/>
          <p:cNvSpPr/>
          <p:nvPr/>
        </p:nvSpPr>
        <p:spPr>
          <a:xfrm>
            <a:off x="5285232" y="3108960"/>
            <a:ext cx="2450592" cy="256032"/>
          </a:xfrm>
          <a:prstGeom prst="rect">
            <a:avLst/>
          </a:prstGeom>
          <a:noFill/>
          <a:ln/>
        </p:spPr>
        <p:txBody>
          <a:bodyPr wrap="square"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Grow 8% kids audience</a:t>
            </a:r>
            <a:endParaRPr lang="en-US" sz="1000" dirty="0"/>
          </a:p>
        </p:txBody>
      </p:sp>
      <p:sp>
        <p:nvSpPr>
          <p:cNvPr id="27" name="Shape 25"/>
          <p:cNvSpPr/>
          <p:nvPr/>
        </p:nvSpPr>
        <p:spPr>
          <a:xfrm>
            <a:off x="8010144" y="1371600"/>
            <a:ext cx="3639312" cy="2103120"/>
          </a:xfrm>
          <a:prstGeom prst="roundRect">
            <a:avLst>
              <a:gd name="adj" fmla="val 4348"/>
            </a:avLst>
          </a:prstGeom>
          <a:solidFill>
            <a:srgbClr val="12244A"/>
          </a:solidFill>
          <a:ln w="9525">
            <a:solidFill>
              <a:srgbClr val="0057FF">
                <a:alpha val="40000"/>
              </a:srgbClr>
            </a:solidFill>
            <a:prstDash val="solid"/>
          </a:ln>
        </p:spPr>
      </p:sp>
      <p:sp>
        <p:nvSpPr>
          <p:cNvPr id="28" name="Shape 26"/>
          <p:cNvSpPr/>
          <p:nvPr/>
        </p:nvSpPr>
        <p:spPr>
          <a:xfrm>
            <a:off x="8010144" y="1371600"/>
            <a:ext cx="109728" cy="2103120"/>
          </a:xfrm>
          <a:prstGeom prst="rect">
            <a:avLst/>
          </a:prstGeom>
          <a:solidFill>
            <a:srgbClr val="F28C28"/>
          </a:solidFill>
          <a:ln w="12700">
            <a:solidFill>
              <a:srgbClr val="F28C28"/>
            </a:solidFill>
            <a:prstDash val="solid"/>
          </a:ln>
        </p:spPr>
      </p:sp>
      <p:sp>
        <p:nvSpPr>
          <p:cNvPr id="29" name="Text 27"/>
          <p:cNvSpPr/>
          <p:nvPr/>
        </p:nvSpPr>
        <p:spPr>
          <a:xfrm>
            <a:off x="8238744" y="1508760"/>
            <a:ext cx="822960" cy="640080"/>
          </a:xfrm>
          <a:prstGeom prst="rect">
            <a:avLst/>
          </a:prstGeom>
          <a:noFill/>
          <a:ln/>
        </p:spPr>
        <p:txBody>
          <a:bodyPr wrap="square" rtlCol="0" anchor="ctr"/>
          <a:lstStyle/>
          <a:p>
            <a:pPr marL="0" indent="0">
              <a:buNone/>
            </a:pPr>
            <a:r>
              <a:rPr lang="en-US" sz="3400" dirty="0">
                <a:solidFill>
                  <a:srgbClr val="000000"/>
                </a:solidFill>
              </a:rPr>
              <a:t>👴</a:t>
            </a:r>
            <a:endParaRPr lang="en-US" sz="3400" dirty="0"/>
          </a:p>
        </p:txBody>
      </p:sp>
      <p:sp>
        <p:nvSpPr>
          <p:cNvPr id="30" name="Text 28"/>
          <p:cNvSpPr/>
          <p:nvPr/>
        </p:nvSpPr>
        <p:spPr>
          <a:xfrm>
            <a:off x="9061704" y="1554480"/>
            <a:ext cx="2450592"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Pensioner Programming</a:t>
            </a:r>
            <a:endParaRPr lang="en-US" sz="1400" dirty="0"/>
          </a:p>
        </p:txBody>
      </p:sp>
      <p:sp>
        <p:nvSpPr>
          <p:cNvPr id="31" name="Text 29"/>
          <p:cNvSpPr/>
          <p:nvPr/>
        </p:nvSpPr>
        <p:spPr>
          <a:xfrm>
            <a:off x="8238744" y="2240280"/>
            <a:ext cx="3273552" cy="777240"/>
          </a:xfrm>
          <a:prstGeom prst="rect">
            <a:avLst/>
          </a:prstGeom>
          <a:noFill/>
          <a:ln/>
        </p:spPr>
        <p:txBody>
          <a:bodyPr wrap="square" rtlCol="0" anchor="ctr"/>
          <a:lstStyle/>
          <a:p>
            <a:pPr marL="0" indent="0">
              <a:buNone/>
            </a:pPr>
            <a:r>
              <a:rPr lang="en-US" sz="1050" dirty="0">
                <a:solidFill>
                  <a:srgbClr val="EAEAEA"/>
                </a:solidFill>
                <a:latin typeface="Calibri" pitchFamily="34" charset="0"/>
                <a:ea typeface="Calibri" pitchFamily="34" charset="-122"/>
                <a:cs typeface="Calibri" pitchFamily="34" charset="-120"/>
              </a:rPr>
              <a:t>Introduce classic movies and nostalgia daytime blocks.</a:t>
            </a:r>
            <a:endParaRPr lang="en-US" sz="1050" dirty="0"/>
          </a:p>
        </p:txBody>
      </p:sp>
      <p:sp>
        <p:nvSpPr>
          <p:cNvPr id="32" name="Shape 30"/>
          <p:cNvSpPr/>
          <p:nvPr/>
        </p:nvSpPr>
        <p:spPr>
          <a:xfrm>
            <a:off x="8238744" y="3063240"/>
            <a:ext cx="3182112" cy="0"/>
          </a:xfrm>
          <a:prstGeom prst="line">
            <a:avLst/>
          </a:prstGeom>
          <a:noFill/>
          <a:ln w="6350">
            <a:solidFill>
              <a:srgbClr val="0057FF">
                <a:alpha val="60000"/>
              </a:srgbClr>
            </a:solidFill>
            <a:prstDash val="solid"/>
          </a:ln>
        </p:spPr>
      </p:sp>
      <p:sp>
        <p:nvSpPr>
          <p:cNvPr id="33" name="Text 31"/>
          <p:cNvSpPr/>
          <p:nvPr/>
        </p:nvSpPr>
        <p:spPr>
          <a:xfrm>
            <a:off x="8238744" y="3108960"/>
            <a:ext cx="914400" cy="256032"/>
          </a:xfrm>
          <a:prstGeom prst="rect">
            <a:avLst/>
          </a:prstGeom>
          <a:noFill/>
          <a:ln/>
        </p:spPr>
        <p:txBody>
          <a:bodyPr wrap="square" rtlCol="0" anchor="ctr"/>
          <a:lstStyle/>
          <a:p>
            <a:pPr marL="0" indent="0">
              <a:buNone/>
            </a:pPr>
            <a:r>
              <a:rPr lang="en-US" sz="800" b="1" kern="0" spc="200" dirty="0">
                <a:solidFill>
                  <a:srgbClr val="F28C28"/>
                </a:solidFill>
                <a:latin typeface="Calibri" pitchFamily="34" charset="0"/>
                <a:ea typeface="Calibri" pitchFamily="34" charset="-122"/>
                <a:cs typeface="Calibri" pitchFamily="34" charset="-120"/>
              </a:rPr>
              <a:t>IMPACT</a:t>
            </a:r>
            <a:endParaRPr lang="en-US" sz="800" dirty="0"/>
          </a:p>
        </p:txBody>
      </p:sp>
      <p:sp>
        <p:nvSpPr>
          <p:cNvPr id="34" name="Text 32"/>
          <p:cNvSpPr/>
          <p:nvPr/>
        </p:nvSpPr>
        <p:spPr>
          <a:xfrm>
            <a:off x="9061704" y="3108960"/>
            <a:ext cx="2450592" cy="256032"/>
          </a:xfrm>
          <a:prstGeom prst="rect">
            <a:avLst/>
          </a:prstGeom>
          <a:noFill/>
          <a:ln/>
        </p:spPr>
        <p:txBody>
          <a:bodyPr wrap="square"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Activate 1% pensioner segment</a:t>
            </a:r>
            <a:endParaRPr lang="en-US" sz="1000" dirty="0"/>
          </a:p>
        </p:txBody>
      </p:sp>
      <p:sp>
        <p:nvSpPr>
          <p:cNvPr id="35" name="Shape 33"/>
          <p:cNvSpPr/>
          <p:nvPr/>
        </p:nvSpPr>
        <p:spPr>
          <a:xfrm>
            <a:off x="457200" y="3611880"/>
            <a:ext cx="3639312" cy="2103120"/>
          </a:xfrm>
          <a:prstGeom prst="roundRect">
            <a:avLst>
              <a:gd name="adj" fmla="val 4348"/>
            </a:avLst>
          </a:prstGeom>
          <a:solidFill>
            <a:srgbClr val="12244A"/>
          </a:solidFill>
          <a:ln w="9525">
            <a:solidFill>
              <a:srgbClr val="0057FF">
                <a:alpha val="40000"/>
              </a:srgbClr>
            </a:solidFill>
            <a:prstDash val="solid"/>
          </a:ln>
        </p:spPr>
      </p:sp>
      <p:sp>
        <p:nvSpPr>
          <p:cNvPr id="36" name="Shape 34"/>
          <p:cNvSpPr/>
          <p:nvPr/>
        </p:nvSpPr>
        <p:spPr>
          <a:xfrm>
            <a:off x="457200" y="3611880"/>
            <a:ext cx="109728" cy="2103120"/>
          </a:xfrm>
          <a:prstGeom prst="rect">
            <a:avLst/>
          </a:prstGeom>
          <a:solidFill>
            <a:srgbClr val="F28C28"/>
          </a:solidFill>
          <a:ln w="12700">
            <a:solidFill>
              <a:srgbClr val="F28C28"/>
            </a:solidFill>
            <a:prstDash val="solid"/>
          </a:ln>
        </p:spPr>
      </p:sp>
      <p:sp>
        <p:nvSpPr>
          <p:cNvPr id="37" name="Text 35"/>
          <p:cNvSpPr/>
          <p:nvPr/>
        </p:nvSpPr>
        <p:spPr>
          <a:xfrm>
            <a:off x="685800" y="3749040"/>
            <a:ext cx="822960" cy="640080"/>
          </a:xfrm>
          <a:prstGeom prst="rect">
            <a:avLst/>
          </a:prstGeom>
          <a:noFill/>
          <a:ln/>
        </p:spPr>
        <p:txBody>
          <a:bodyPr wrap="square" rtlCol="0" anchor="ctr"/>
          <a:lstStyle/>
          <a:p>
            <a:pPr marL="0" indent="0">
              <a:buNone/>
            </a:pPr>
            <a:r>
              <a:rPr lang="en-US" sz="3400" dirty="0">
                <a:solidFill>
                  <a:srgbClr val="000000"/>
                </a:solidFill>
              </a:rPr>
              <a:t>👩</a:t>
            </a:r>
            <a:endParaRPr lang="en-US" sz="3400" dirty="0"/>
          </a:p>
        </p:txBody>
      </p:sp>
      <p:sp>
        <p:nvSpPr>
          <p:cNvPr id="38" name="Text 36"/>
          <p:cNvSpPr/>
          <p:nvPr/>
        </p:nvSpPr>
        <p:spPr>
          <a:xfrm>
            <a:off x="1508760" y="3794760"/>
            <a:ext cx="2450592"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Attract Female Viewers</a:t>
            </a:r>
            <a:endParaRPr lang="en-US" sz="1400" dirty="0"/>
          </a:p>
        </p:txBody>
      </p:sp>
      <p:sp>
        <p:nvSpPr>
          <p:cNvPr id="39" name="Text 37"/>
          <p:cNvSpPr/>
          <p:nvPr/>
        </p:nvSpPr>
        <p:spPr>
          <a:xfrm>
            <a:off x="685800" y="4480560"/>
            <a:ext cx="3273552" cy="777240"/>
          </a:xfrm>
          <a:prstGeom prst="rect">
            <a:avLst/>
          </a:prstGeom>
          <a:noFill/>
          <a:ln/>
        </p:spPr>
        <p:txBody>
          <a:bodyPr wrap="square" rtlCol="0" anchor="ctr"/>
          <a:lstStyle/>
          <a:p>
            <a:pPr marL="0" indent="0">
              <a:buNone/>
            </a:pPr>
            <a:r>
              <a:rPr lang="en-US" sz="1050" dirty="0">
                <a:solidFill>
                  <a:srgbClr val="EAEAEA"/>
                </a:solidFill>
                <a:latin typeface="Calibri" pitchFamily="34" charset="0"/>
                <a:ea typeface="Calibri" pitchFamily="34" charset="-122"/>
                <a:cs typeface="Calibri" pitchFamily="34" charset="-120"/>
              </a:rPr>
              <a:t>Launch premium drama series and lifestyle programming.</a:t>
            </a:r>
            <a:endParaRPr lang="en-US" sz="1050" dirty="0"/>
          </a:p>
        </p:txBody>
      </p:sp>
      <p:sp>
        <p:nvSpPr>
          <p:cNvPr id="40" name="Shape 38"/>
          <p:cNvSpPr/>
          <p:nvPr/>
        </p:nvSpPr>
        <p:spPr>
          <a:xfrm>
            <a:off x="685800" y="5303520"/>
            <a:ext cx="3182112" cy="0"/>
          </a:xfrm>
          <a:prstGeom prst="line">
            <a:avLst/>
          </a:prstGeom>
          <a:noFill/>
          <a:ln w="6350">
            <a:solidFill>
              <a:srgbClr val="0057FF">
                <a:alpha val="60000"/>
              </a:srgbClr>
            </a:solidFill>
            <a:prstDash val="solid"/>
          </a:ln>
        </p:spPr>
      </p:sp>
      <p:sp>
        <p:nvSpPr>
          <p:cNvPr id="41" name="Text 39"/>
          <p:cNvSpPr/>
          <p:nvPr/>
        </p:nvSpPr>
        <p:spPr>
          <a:xfrm>
            <a:off x="685800" y="5349240"/>
            <a:ext cx="914400" cy="256032"/>
          </a:xfrm>
          <a:prstGeom prst="rect">
            <a:avLst/>
          </a:prstGeom>
          <a:noFill/>
          <a:ln/>
        </p:spPr>
        <p:txBody>
          <a:bodyPr wrap="square" rtlCol="0" anchor="ctr"/>
          <a:lstStyle/>
          <a:p>
            <a:pPr marL="0" indent="0">
              <a:buNone/>
            </a:pPr>
            <a:r>
              <a:rPr lang="en-US" sz="800" b="1" kern="0" spc="200" dirty="0">
                <a:solidFill>
                  <a:srgbClr val="F28C28"/>
                </a:solidFill>
                <a:latin typeface="Calibri" pitchFamily="34" charset="0"/>
                <a:ea typeface="Calibri" pitchFamily="34" charset="-122"/>
                <a:cs typeface="Calibri" pitchFamily="34" charset="-120"/>
              </a:rPr>
              <a:t>IMPACT</a:t>
            </a:r>
            <a:endParaRPr lang="en-US" sz="800" dirty="0"/>
          </a:p>
        </p:txBody>
      </p:sp>
      <p:sp>
        <p:nvSpPr>
          <p:cNvPr id="42" name="Text 40"/>
          <p:cNvSpPr/>
          <p:nvPr/>
        </p:nvSpPr>
        <p:spPr>
          <a:xfrm>
            <a:off x="1508760" y="5349240"/>
            <a:ext cx="2450592" cy="256032"/>
          </a:xfrm>
          <a:prstGeom prst="rect">
            <a:avLst/>
          </a:prstGeom>
          <a:noFill/>
          <a:ln/>
        </p:spPr>
        <p:txBody>
          <a:bodyPr wrap="square"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Close 11% female gap</a:t>
            </a:r>
            <a:endParaRPr lang="en-US" sz="1000" dirty="0"/>
          </a:p>
        </p:txBody>
      </p:sp>
      <p:sp>
        <p:nvSpPr>
          <p:cNvPr id="43" name="Shape 41"/>
          <p:cNvSpPr/>
          <p:nvPr/>
        </p:nvSpPr>
        <p:spPr>
          <a:xfrm>
            <a:off x="4233672" y="3611880"/>
            <a:ext cx="3639312" cy="2103120"/>
          </a:xfrm>
          <a:prstGeom prst="roundRect">
            <a:avLst>
              <a:gd name="adj" fmla="val 4348"/>
            </a:avLst>
          </a:prstGeom>
          <a:solidFill>
            <a:srgbClr val="12244A"/>
          </a:solidFill>
          <a:ln w="9525">
            <a:solidFill>
              <a:srgbClr val="0057FF">
                <a:alpha val="40000"/>
              </a:srgbClr>
            </a:solidFill>
            <a:prstDash val="solid"/>
          </a:ln>
        </p:spPr>
      </p:sp>
      <p:sp>
        <p:nvSpPr>
          <p:cNvPr id="44" name="Shape 42"/>
          <p:cNvSpPr/>
          <p:nvPr/>
        </p:nvSpPr>
        <p:spPr>
          <a:xfrm>
            <a:off x="4233672" y="3611880"/>
            <a:ext cx="109728" cy="2103120"/>
          </a:xfrm>
          <a:prstGeom prst="rect">
            <a:avLst/>
          </a:prstGeom>
          <a:solidFill>
            <a:srgbClr val="F28C28"/>
          </a:solidFill>
          <a:ln w="12700">
            <a:solidFill>
              <a:srgbClr val="F28C28"/>
            </a:solidFill>
            <a:prstDash val="solid"/>
          </a:ln>
        </p:spPr>
      </p:sp>
      <p:sp>
        <p:nvSpPr>
          <p:cNvPr id="45" name="Text 43"/>
          <p:cNvSpPr/>
          <p:nvPr/>
        </p:nvSpPr>
        <p:spPr>
          <a:xfrm>
            <a:off x="4462272" y="3749040"/>
            <a:ext cx="822960" cy="640080"/>
          </a:xfrm>
          <a:prstGeom prst="rect">
            <a:avLst/>
          </a:prstGeom>
          <a:noFill/>
          <a:ln/>
        </p:spPr>
        <p:txBody>
          <a:bodyPr wrap="square" rtlCol="0" anchor="ctr"/>
          <a:lstStyle/>
          <a:p>
            <a:pPr marL="0" indent="0">
              <a:buNone/>
            </a:pPr>
            <a:r>
              <a:rPr lang="en-US" sz="3400" dirty="0">
                <a:solidFill>
                  <a:srgbClr val="000000"/>
                </a:solidFill>
              </a:rPr>
              <a:t>🌙</a:t>
            </a:r>
            <a:endParaRPr lang="en-US" sz="3400" dirty="0"/>
          </a:p>
        </p:txBody>
      </p:sp>
      <p:sp>
        <p:nvSpPr>
          <p:cNvPr id="46" name="Text 44"/>
          <p:cNvSpPr/>
          <p:nvPr/>
        </p:nvSpPr>
        <p:spPr>
          <a:xfrm>
            <a:off x="5285232" y="3794760"/>
            <a:ext cx="2450592"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Fill Low-View Slots</a:t>
            </a:r>
            <a:endParaRPr lang="en-US" sz="1400" dirty="0"/>
          </a:p>
        </p:txBody>
      </p:sp>
      <p:sp>
        <p:nvSpPr>
          <p:cNvPr id="47" name="Text 45"/>
          <p:cNvSpPr/>
          <p:nvPr/>
        </p:nvSpPr>
        <p:spPr>
          <a:xfrm>
            <a:off x="4462272" y="4480560"/>
            <a:ext cx="3273552" cy="777240"/>
          </a:xfrm>
          <a:prstGeom prst="rect">
            <a:avLst/>
          </a:prstGeom>
          <a:noFill/>
          <a:ln/>
        </p:spPr>
        <p:txBody>
          <a:bodyPr wrap="square" rtlCol="0" anchor="ctr"/>
          <a:lstStyle/>
          <a:p>
            <a:pPr marL="0" indent="0">
              <a:buNone/>
            </a:pPr>
            <a:r>
              <a:rPr lang="en-US" sz="1050" dirty="0">
                <a:solidFill>
                  <a:srgbClr val="EAEAEA"/>
                </a:solidFill>
                <a:latin typeface="Calibri" pitchFamily="34" charset="0"/>
                <a:ea typeface="Calibri" pitchFamily="34" charset="-122"/>
                <a:cs typeface="Calibri" pitchFamily="34" charset="-120"/>
              </a:rPr>
              <a:t>Late-night movie marathons + reality TV rewards.</a:t>
            </a:r>
            <a:endParaRPr lang="en-US" sz="1050" dirty="0"/>
          </a:p>
        </p:txBody>
      </p:sp>
      <p:sp>
        <p:nvSpPr>
          <p:cNvPr id="48" name="Shape 46"/>
          <p:cNvSpPr/>
          <p:nvPr/>
        </p:nvSpPr>
        <p:spPr>
          <a:xfrm>
            <a:off x="4462272" y="5303520"/>
            <a:ext cx="3182112" cy="0"/>
          </a:xfrm>
          <a:prstGeom prst="line">
            <a:avLst/>
          </a:prstGeom>
          <a:noFill/>
          <a:ln w="6350">
            <a:solidFill>
              <a:srgbClr val="0057FF">
                <a:alpha val="60000"/>
              </a:srgbClr>
            </a:solidFill>
            <a:prstDash val="solid"/>
          </a:ln>
        </p:spPr>
      </p:sp>
      <p:sp>
        <p:nvSpPr>
          <p:cNvPr id="49" name="Text 47"/>
          <p:cNvSpPr/>
          <p:nvPr/>
        </p:nvSpPr>
        <p:spPr>
          <a:xfrm>
            <a:off x="4462272" y="5349240"/>
            <a:ext cx="914400" cy="256032"/>
          </a:xfrm>
          <a:prstGeom prst="rect">
            <a:avLst/>
          </a:prstGeom>
          <a:noFill/>
          <a:ln/>
        </p:spPr>
        <p:txBody>
          <a:bodyPr wrap="square" rtlCol="0" anchor="ctr"/>
          <a:lstStyle/>
          <a:p>
            <a:pPr marL="0" indent="0">
              <a:buNone/>
            </a:pPr>
            <a:r>
              <a:rPr lang="en-US" sz="800" b="1" kern="0" spc="200" dirty="0">
                <a:solidFill>
                  <a:srgbClr val="F28C28"/>
                </a:solidFill>
                <a:latin typeface="Calibri" pitchFamily="34" charset="0"/>
                <a:ea typeface="Calibri" pitchFamily="34" charset="-122"/>
                <a:cs typeface="Calibri" pitchFamily="34" charset="-120"/>
              </a:rPr>
              <a:t>IMPACT</a:t>
            </a:r>
            <a:endParaRPr lang="en-US" sz="800" dirty="0"/>
          </a:p>
        </p:txBody>
      </p:sp>
      <p:sp>
        <p:nvSpPr>
          <p:cNvPr id="50" name="Text 48"/>
          <p:cNvSpPr/>
          <p:nvPr/>
        </p:nvSpPr>
        <p:spPr>
          <a:xfrm>
            <a:off x="5285232" y="5349240"/>
            <a:ext cx="2450592" cy="256032"/>
          </a:xfrm>
          <a:prstGeom prst="rect">
            <a:avLst/>
          </a:prstGeom>
          <a:noFill/>
          <a:ln/>
        </p:spPr>
        <p:txBody>
          <a:bodyPr wrap="square"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Monetise idle Late Night hours</a:t>
            </a:r>
            <a:endParaRPr lang="en-US" sz="1000" dirty="0"/>
          </a:p>
        </p:txBody>
      </p:sp>
      <p:sp>
        <p:nvSpPr>
          <p:cNvPr id="51" name="Shape 49"/>
          <p:cNvSpPr/>
          <p:nvPr/>
        </p:nvSpPr>
        <p:spPr>
          <a:xfrm>
            <a:off x="8010144" y="3611880"/>
            <a:ext cx="3639312" cy="2103120"/>
          </a:xfrm>
          <a:prstGeom prst="roundRect">
            <a:avLst>
              <a:gd name="adj" fmla="val 4348"/>
            </a:avLst>
          </a:prstGeom>
          <a:solidFill>
            <a:srgbClr val="12244A"/>
          </a:solidFill>
          <a:ln w="9525">
            <a:solidFill>
              <a:srgbClr val="0057FF">
                <a:alpha val="40000"/>
              </a:srgbClr>
            </a:solidFill>
            <a:prstDash val="solid"/>
          </a:ln>
        </p:spPr>
      </p:sp>
      <p:sp>
        <p:nvSpPr>
          <p:cNvPr id="52" name="Shape 50"/>
          <p:cNvSpPr/>
          <p:nvPr/>
        </p:nvSpPr>
        <p:spPr>
          <a:xfrm>
            <a:off x="8010144" y="3611880"/>
            <a:ext cx="109728" cy="2103120"/>
          </a:xfrm>
          <a:prstGeom prst="rect">
            <a:avLst/>
          </a:prstGeom>
          <a:solidFill>
            <a:srgbClr val="F28C28"/>
          </a:solidFill>
          <a:ln w="12700">
            <a:solidFill>
              <a:srgbClr val="F28C28"/>
            </a:solidFill>
            <a:prstDash val="solid"/>
          </a:ln>
        </p:spPr>
      </p:sp>
      <p:sp>
        <p:nvSpPr>
          <p:cNvPr id="53" name="Text 51"/>
          <p:cNvSpPr/>
          <p:nvPr/>
        </p:nvSpPr>
        <p:spPr>
          <a:xfrm>
            <a:off x="8238744" y="3749040"/>
            <a:ext cx="822960" cy="640080"/>
          </a:xfrm>
          <a:prstGeom prst="rect">
            <a:avLst/>
          </a:prstGeom>
          <a:noFill/>
          <a:ln/>
        </p:spPr>
        <p:txBody>
          <a:bodyPr wrap="square" rtlCol="0" anchor="ctr"/>
          <a:lstStyle/>
          <a:p>
            <a:pPr marL="0" indent="0">
              <a:buNone/>
            </a:pPr>
            <a:r>
              <a:rPr lang="en-US" sz="3400" dirty="0">
                <a:solidFill>
                  <a:srgbClr val="000000"/>
                </a:solidFill>
              </a:rPr>
              <a:t>🏆</a:t>
            </a:r>
            <a:endParaRPr lang="en-US" sz="3400" dirty="0"/>
          </a:p>
        </p:txBody>
      </p:sp>
      <p:sp>
        <p:nvSpPr>
          <p:cNvPr id="54" name="Text 52"/>
          <p:cNvSpPr/>
          <p:nvPr/>
        </p:nvSpPr>
        <p:spPr>
          <a:xfrm>
            <a:off x="9061704" y="3794760"/>
            <a:ext cx="2450592"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Double Down on Sports</a:t>
            </a:r>
            <a:endParaRPr lang="en-US" sz="1400" dirty="0"/>
          </a:p>
        </p:txBody>
      </p:sp>
      <p:sp>
        <p:nvSpPr>
          <p:cNvPr id="55" name="Text 53"/>
          <p:cNvSpPr/>
          <p:nvPr/>
        </p:nvSpPr>
        <p:spPr>
          <a:xfrm>
            <a:off x="8238744" y="4480560"/>
            <a:ext cx="3273552" cy="777240"/>
          </a:xfrm>
          <a:prstGeom prst="rect">
            <a:avLst/>
          </a:prstGeom>
          <a:noFill/>
          <a:ln/>
        </p:spPr>
        <p:txBody>
          <a:bodyPr wrap="square" rtlCol="0" anchor="ctr"/>
          <a:lstStyle/>
          <a:p>
            <a:pPr marL="0" indent="0">
              <a:buNone/>
            </a:pPr>
            <a:r>
              <a:rPr lang="en-US" sz="1050" dirty="0">
                <a:solidFill>
                  <a:srgbClr val="EAEAEA"/>
                </a:solidFill>
                <a:latin typeface="Calibri" pitchFamily="34" charset="0"/>
                <a:ea typeface="Calibri" pitchFamily="34" charset="-122"/>
                <a:cs typeface="Calibri" pitchFamily="34" charset="-120"/>
              </a:rPr>
              <a:t>Secure more live sport rights (cricket, SuperSport).</a:t>
            </a:r>
            <a:endParaRPr lang="en-US" sz="1050" dirty="0"/>
          </a:p>
        </p:txBody>
      </p:sp>
      <p:sp>
        <p:nvSpPr>
          <p:cNvPr id="56" name="Shape 54"/>
          <p:cNvSpPr/>
          <p:nvPr/>
        </p:nvSpPr>
        <p:spPr>
          <a:xfrm>
            <a:off x="8238744" y="5303520"/>
            <a:ext cx="3182112" cy="0"/>
          </a:xfrm>
          <a:prstGeom prst="line">
            <a:avLst/>
          </a:prstGeom>
          <a:noFill/>
          <a:ln w="6350">
            <a:solidFill>
              <a:srgbClr val="0057FF">
                <a:alpha val="60000"/>
              </a:srgbClr>
            </a:solidFill>
            <a:prstDash val="solid"/>
          </a:ln>
        </p:spPr>
      </p:sp>
      <p:sp>
        <p:nvSpPr>
          <p:cNvPr id="57" name="Text 55"/>
          <p:cNvSpPr/>
          <p:nvPr/>
        </p:nvSpPr>
        <p:spPr>
          <a:xfrm>
            <a:off x="8238744" y="5349240"/>
            <a:ext cx="914400" cy="256032"/>
          </a:xfrm>
          <a:prstGeom prst="rect">
            <a:avLst/>
          </a:prstGeom>
          <a:noFill/>
          <a:ln/>
        </p:spPr>
        <p:txBody>
          <a:bodyPr wrap="square" rtlCol="0" anchor="ctr"/>
          <a:lstStyle/>
          <a:p>
            <a:pPr marL="0" indent="0">
              <a:buNone/>
            </a:pPr>
            <a:r>
              <a:rPr lang="en-US" sz="800" b="1" kern="0" spc="200" dirty="0">
                <a:solidFill>
                  <a:srgbClr val="F28C28"/>
                </a:solidFill>
                <a:latin typeface="Calibri" pitchFamily="34" charset="0"/>
                <a:ea typeface="Calibri" pitchFamily="34" charset="-122"/>
                <a:cs typeface="Calibri" pitchFamily="34" charset="-120"/>
              </a:rPr>
              <a:t>IMPACT</a:t>
            </a:r>
            <a:endParaRPr lang="en-US" sz="800" dirty="0"/>
          </a:p>
        </p:txBody>
      </p:sp>
      <p:sp>
        <p:nvSpPr>
          <p:cNvPr id="58" name="Text 56"/>
          <p:cNvSpPr/>
          <p:nvPr/>
        </p:nvSpPr>
        <p:spPr>
          <a:xfrm>
            <a:off x="9061704" y="5349240"/>
            <a:ext cx="2450592" cy="256032"/>
          </a:xfrm>
          <a:prstGeom prst="rect">
            <a:avLst/>
          </a:prstGeom>
          <a:noFill/>
          <a:ln/>
        </p:spPr>
        <p:txBody>
          <a:bodyPr wrap="square"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Sustain #1 engagement driver</a:t>
            </a:r>
            <a:endParaRPr lang="en-US" sz="1000" dirty="0"/>
          </a:p>
        </p:txBody>
      </p:sp>
      <p:sp>
        <p:nvSpPr>
          <p:cNvPr id="59" name="Shape 57"/>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60" name="Text 58"/>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61" name="Text 59"/>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Six focused plays across content, audience and daypart to grow Bright TV's subscriber base.</a:t>
            </a:r>
            <a:endParaRPr lang="en-US" sz="1200" dirty="0"/>
          </a:p>
        </p:txBody>
      </p:sp>
      <p:sp>
        <p:nvSpPr>
          <p:cNvPr id="62" name="Shape 60"/>
          <p:cNvSpPr/>
          <p:nvPr/>
        </p:nvSpPr>
        <p:spPr>
          <a:xfrm>
            <a:off x="457200" y="6446520"/>
            <a:ext cx="11274552" cy="0"/>
          </a:xfrm>
          <a:prstGeom prst="line">
            <a:avLst/>
          </a:prstGeom>
          <a:noFill/>
          <a:ln w="9525">
            <a:solidFill>
              <a:srgbClr val="0057FF">
                <a:alpha val="60000"/>
              </a:srgbClr>
            </a:solidFill>
            <a:prstDash val="solid"/>
          </a:ln>
        </p:spPr>
      </p:sp>
      <p:sp>
        <p:nvSpPr>
          <p:cNvPr id="63" name="Text 61"/>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64" name="Text 62"/>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28C28"/>
          </a:solidFill>
          <a:ln w="12700">
            <a:solidFill>
              <a:srgbClr val="F28C28"/>
            </a:solidFill>
            <a:prstDash val="solid"/>
          </a:ln>
        </p:spPr>
      </p:sp>
      <p:sp>
        <p:nvSpPr>
          <p:cNvPr id="3" name="Shape 1"/>
          <p:cNvSpPr/>
          <p:nvPr/>
        </p:nvSpPr>
        <p:spPr>
          <a:xfrm>
            <a:off x="0" y="73152"/>
            <a:ext cx="12188952" cy="27432"/>
          </a:xfrm>
          <a:prstGeom prst="rect">
            <a:avLst/>
          </a:prstGeom>
          <a:solidFill>
            <a:srgbClr val="0057FF"/>
          </a:solidFill>
          <a:ln w="12700">
            <a:solidFill>
              <a:srgbClr val="0057FF"/>
            </a:solidFill>
            <a:prstDash val="solid"/>
          </a:ln>
        </p:spPr>
      </p:sp>
      <p:sp>
        <p:nvSpPr>
          <p:cNvPr id="4" name="Shape 2"/>
          <p:cNvSpPr/>
          <p:nvPr/>
        </p:nvSpPr>
        <p:spPr>
          <a:xfrm>
            <a:off x="9445752" y="-1828800"/>
            <a:ext cx="4572000" cy="4572000"/>
          </a:xfrm>
          <a:prstGeom prst="ellipse">
            <a:avLst/>
          </a:prstGeom>
          <a:solidFill>
            <a:srgbClr val="0057FF">
              <a:alpha val="20000"/>
            </a:srgbClr>
          </a:solidFill>
          <a:ln w="12700">
            <a:solidFill>
              <a:srgbClr val="0057FF">
                <a:alpha val="0"/>
              </a:srgbClr>
            </a:solidFill>
            <a:prstDash val="solid"/>
          </a:ln>
        </p:spPr>
      </p:sp>
      <p:sp>
        <p:nvSpPr>
          <p:cNvPr id="5" name="Shape 3"/>
          <p:cNvSpPr/>
          <p:nvPr/>
        </p:nvSpPr>
        <p:spPr>
          <a:xfrm>
            <a:off x="-1828800" y="4572000"/>
            <a:ext cx="4572000" cy="4572000"/>
          </a:xfrm>
          <a:prstGeom prst="ellipse">
            <a:avLst/>
          </a:prstGeom>
          <a:solidFill>
            <a:srgbClr val="F28C28">
              <a:alpha val="12000"/>
            </a:srgbClr>
          </a:solidFill>
          <a:ln w="12700">
            <a:solidFill>
              <a:srgbClr val="F28C28">
                <a:alpha val="0"/>
              </a:srgbClr>
            </a:solidFill>
            <a:prstDash val="solid"/>
          </a:ln>
        </p:spPr>
      </p:sp>
      <p:sp>
        <p:nvSpPr>
          <p:cNvPr id="6" name="Shape 4"/>
          <p:cNvSpPr/>
          <p:nvPr/>
        </p:nvSpPr>
        <p:spPr>
          <a:xfrm>
            <a:off x="457200" y="320040"/>
            <a:ext cx="109728" cy="384048"/>
          </a:xfrm>
          <a:prstGeom prst="rect">
            <a:avLst/>
          </a:prstGeom>
          <a:solidFill>
            <a:srgbClr val="F28C28"/>
          </a:solidFill>
          <a:ln w="12700">
            <a:solidFill>
              <a:srgbClr val="F28C28"/>
            </a:solidFill>
            <a:prstDash val="solid"/>
          </a:ln>
        </p:spPr>
      </p:sp>
      <p:sp>
        <p:nvSpPr>
          <p:cNvPr id="7" name="Text 5"/>
          <p:cNvSpPr/>
          <p:nvPr/>
        </p:nvSpPr>
        <p:spPr>
          <a:xfrm>
            <a:off x="658368" y="292608"/>
            <a:ext cx="7315200" cy="274320"/>
          </a:xfrm>
          <a:prstGeom prst="rect">
            <a:avLst/>
          </a:prstGeom>
          <a:noFill/>
          <a:ln/>
        </p:spPr>
        <p:txBody>
          <a:bodyPr wrap="square" rtlCol="0" anchor="ctr"/>
          <a:lstStyle/>
          <a:p>
            <a:pPr marL="0" indent="0">
              <a:buNone/>
            </a:pPr>
            <a:r>
              <a:rPr lang="en-US" sz="1200" b="1" kern="0" spc="400" dirty="0">
                <a:solidFill>
                  <a:srgbClr val="F28C28"/>
                </a:solidFill>
                <a:latin typeface="Calibri" pitchFamily="34" charset="0"/>
                <a:ea typeface="Calibri" pitchFamily="34" charset="-122"/>
                <a:cs typeface="Calibri" pitchFamily="34" charset="-120"/>
              </a:rPr>
              <a:t>08 · EXECUTIVE SUMMARY</a:t>
            </a:r>
            <a:endParaRPr lang="en-US" sz="1200" dirty="0"/>
          </a:p>
        </p:txBody>
      </p:sp>
      <p:sp>
        <p:nvSpPr>
          <p:cNvPr id="8" name="Text 6"/>
          <p:cNvSpPr/>
          <p:nvPr/>
        </p:nvSpPr>
        <p:spPr>
          <a:xfrm>
            <a:off x="658368" y="502920"/>
            <a:ext cx="10972800" cy="54864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Key Takeaways</a:t>
            </a:r>
            <a:endParaRPr lang="en-US" sz="3000" dirty="0"/>
          </a:p>
        </p:txBody>
      </p:sp>
      <p:sp>
        <p:nvSpPr>
          <p:cNvPr id="9" name="Shape 7"/>
          <p:cNvSpPr/>
          <p:nvPr/>
        </p:nvSpPr>
        <p:spPr>
          <a:xfrm>
            <a:off x="457200" y="1143000"/>
            <a:ext cx="11274552" cy="0"/>
          </a:xfrm>
          <a:prstGeom prst="line">
            <a:avLst/>
          </a:prstGeom>
          <a:noFill/>
          <a:ln w="12700">
            <a:solidFill>
              <a:srgbClr val="0057FF"/>
            </a:solidFill>
            <a:prstDash val="solid"/>
          </a:ln>
        </p:spPr>
      </p:sp>
      <p:sp>
        <p:nvSpPr>
          <p:cNvPr id="10" name="Text 8"/>
          <p:cNvSpPr/>
          <p:nvPr/>
        </p:nvSpPr>
        <p:spPr>
          <a:xfrm>
            <a:off x="7772400" y="292608"/>
            <a:ext cx="3931920" cy="274320"/>
          </a:xfrm>
          <a:prstGeom prst="rect">
            <a:avLst/>
          </a:prstGeom>
          <a:noFill/>
          <a:ln/>
        </p:spPr>
        <p:txBody>
          <a:bodyPr wrap="square" rtlCol="0" anchor="ctr"/>
          <a:lstStyle/>
          <a:p>
            <a:pPr marL="0" indent="0" algn="r">
              <a:buNone/>
            </a:pPr>
            <a:r>
              <a:rPr lang="en-US" sz="1000" kern="0" spc="300" dirty="0">
                <a:solidFill>
                  <a:srgbClr val="9AA6BF"/>
                </a:solidFill>
                <a:latin typeface="Calibri" pitchFamily="34" charset="0"/>
                <a:ea typeface="Calibri" pitchFamily="34" charset="-122"/>
                <a:cs typeface="Calibri" pitchFamily="34" charset="-120"/>
              </a:rPr>
              <a:t>BRIGHT TV  •  CVM ANALYTICS</a:t>
            </a:r>
            <a:endParaRPr lang="en-US" sz="1000" dirty="0"/>
          </a:p>
        </p:txBody>
      </p:sp>
      <p:sp>
        <p:nvSpPr>
          <p:cNvPr id="11" name="Shape 9"/>
          <p:cNvSpPr/>
          <p:nvPr/>
        </p:nvSpPr>
        <p:spPr>
          <a:xfrm>
            <a:off x="457200" y="1371600"/>
            <a:ext cx="2176272" cy="4114800"/>
          </a:xfrm>
          <a:prstGeom prst="roundRect">
            <a:avLst>
              <a:gd name="adj" fmla="val 4202"/>
            </a:avLst>
          </a:prstGeom>
          <a:solidFill>
            <a:srgbClr val="12244A"/>
          </a:solidFill>
          <a:ln w="9525">
            <a:solidFill>
              <a:srgbClr val="0057FF">
                <a:alpha val="40000"/>
              </a:srgbClr>
            </a:solidFill>
            <a:prstDash val="solid"/>
          </a:ln>
        </p:spPr>
      </p:sp>
      <p:sp>
        <p:nvSpPr>
          <p:cNvPr id="12" name="Shape 10"/>
          <p:cNvSpPr/>
          <p:nvPr/>
        </p:nvSpPr>
        <p:spPr>
          <a:xfrm>
            <a:off x="457200" y="1371600"/>
            <a:ext cx="2176272" cy="137160"/>
          </a:xfrm>
          <a:prstGeom prst="rect">
            <a:avLst/>
          </a:prstGeom>
          <a:solidFill>
            <a:srgbClr val="F28C28"/>
          </a:solidFill>
          <a:ln w="12700">
            <a:solidFill>
              <a:srgbClr val="F28C28"/>
            </a:solidFill>
            <a:prstDash val="solid"/>
          </a:ln>
        </p:spPr>
      </p:sp>
      <p:sp>
        <p:nvSpPr>
          <p:cNvPr id="13" name="Text 11"/>
          <p:cNvSpPr/>
          <p:nvPr/>
        </p:nvSpPr>
        <p:spPr>
          <a:xfrm>
            <a:off x="457200" y="1691640"/>
            <a:ext cx="2176272" cy="1097280"/>
          </a:xfrm>
          <a:prstGeom prst="rect">
            <a:avLst/>
          </a:prstGeom>
          <a:noFill/>
          <a:ln/>
        </p:spPr>
        <p:txBody>
          <a:bodyPr wrap="square" rtlCol="0" anchor="ctr"/>
          <a:lstStyle/>
          <a:p>
            <a:pPr marL="0" indent="0" algn="ctr">
              <a:buNone/>
            </a:pPr>
            <a:r>
              <a:rPr lang="en-US" sz="5400" dirty="0">
                <a:solidFill>
                  <a:srgbClr val="000000"/>
                </a:solidFill>
              </a:rPr>
              <a:t>📈</a:t>
            </a:r>
            <a:endParaRPr lang="en-US" sz="5400" dirty="0"/>
          </a:p>
        </p:txBody>
      </p:sp>
      <p:sp>
        <p:nvSpPr>
          <p:cNvPr id="14" name="Text 12"/>
          <p:cNvSpPr/>
          <p:nvPr/>
        </p:nvSpPr>
        <p:spPr>
          <a:xfrm>
            <a:off x="594360" y="2880360"/>
            <a:ext cx="1901952" cy="548640"/>
          </a:xfrm>
          <a:prstGeom prst="rect">
            <a:avLst/>
          </a:prstGeom>
          <a:noFill/>
          <a:ln/>
        </p:spPr>
        <p:txBody>
          <a:bodyPr wrap="square" rtlCol="0" anchor="ctr"/>
          <a:lstStyle/>
          <a:p>
            <a:pPr marL="0" indent="0" algn="ctr">
              <a:buNone/>
            </a:pPr>
            <a:r>
              <a:rPr lang="en-US" sz="1400" b="1" dirty="0">
                <a:solidFill>
                  <a:srgbClr val="F28C28"/>
                </a:solidFill>
                <a:latin typeface="Calibri" pitchFamily="34" charset="0"/>
                <a:ea typeface="Calibri" pitchFamily="34" charset="-122"/>
                <a:cs typeface="Calibri" pitchFamily="34" charset="-120"/>
              </a:rPr>
              <a:t>March Growth</a:t>
            </a:r>
            <a:endParaRPr lang="en-US" sz="1400" dirty="0"/>
          </a:p>
        </p:txBody>
      </p:sp>
      <p:sp>
        <p:nvSpPr>
          <p:cNvPr id="15" name="Shape 13"/>
          <p:cNvSpPr/>
          <p:nvPr/>
        </p:nvSpPr>
        <p:spPr>
          <a:xfrm>
            <a:off x="914400" y="3474720"/>
            <a:ext cx="1261872" cy="0"/>
          </a:xfrm>
          <a:prstGeom prst="line">
            <a:avLst/>
          </a:prstGeom>
          <a:noFill/>
          <a:ln w="9525">
            <a:solidFill>
              <a:srgbClr val="0057FF"/>
            </a:solidFill>
            <a:prstDash val="solid"/>
          </a:ln>
        </p:spPr>
      </p:sp>
      <p:sp>
        <p:nvSpPr>
          <p:cNvPr id="16" name="Text 14"/>
          <p:cNvSpPr/>
          <p:nvPr/>
        </p:nvSpPr>
        <p:spPr>
          <a:xfrm>
            <a:off x="640080" y="3611880"/>
            <a:ext cx="1810512" cy="17373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Strong lift across every channel &amp; audience group.</a:t>
            </a:r>
            <a:endParaRPr lang="en-US" sz="1100" dirty="0"/>
          </a:p>
        </p:txBody>
      </p:sp>
      <p:sp>
        <p:nvSpPr>
          <p:cNvPr id="17" name="Shape 15"/>
          <p:cNvSpPr/>
          <p:nvPr/>
        </p:nvSpPr>
        <p:spPr>
          <a:xfrm>
            <a:off x="2770632" y="1371600"/>
            <a:ext cx="2176272" cy="4114800"/>
          </a:xfrm>
          <a:prstGeom prst="roundRect">
            <a:avLst>
              <a:gd name="adj" fmla="val 4202"/>
            </a:avLst>
          </a:prstGeom>
          <a:solidFill>
            <a:srgbClr val="12244A"/>
          </a:solidFill>
          <a:ln w="9525">
            <a:solidFill>
              <a:srgbClr val="0057FF">
                <a:alpha val="40000"/>
              </a:srgbClr>
            </a:solidFill>
            <a:prstDash val="solid"/>
          </a:ln>
        </p:spPr>
      </p:sp>
      <p:sp>
        <p:nvSpPr>
          <p:cNvPr id="18" name="Shape 16"/>
          <p:cNvSpPr/>
          <p:nvPr/>
        </p:nvSpPr>
        <p:spPr>
          <a:xfrm>
            <a:off x="2770632" y="1371600"/>
            <a:ext cx="2176272" cy="137160"/>
          </a:xfrm>
          <a:prstGeom prst="rect">
            <a:avLst/>
          </a:prstGeom>
          <a:solidFill>
            <a:srgbClr val="F28C28"/>
          </a:solidFill>
          <a:ln w="12700">
            <a:solidFill>
              <a:srgbClr val="F28C28"/>
            </a:solidFill>
            <a:prstDash val="solid"/>
          </a:ln>
        </p:spPr>
      </p:sp>
      <p:sp>
        <p:nvSpPr>
          <p:cNvPr id="19" name="Text 17"/>
          <p:cNvSpPr/>
          <p:nvPr/>
        </p:nvSpPr>
        <p:spPr>
          <a:xfrm>
            <a:off x="2770632" y="1691640"/>
            <a:ext cx="2176272" cy="1097280"/>
          </a:xfrm>
          <a:prstGeom prst="rect">
            <a:avLst/>
          </a:prstGeom>
          <a:noFill/>
          <a:ln/>
        </p:spPr>
        <p:txBody>
          <a:bodyPr wrap="square" rtlCol="0" anchor="ctr"/>
          <a:lstStyle/>
          <a:p>
            <a:pPr marL="0" indent="0" algn="ctr">
              <a:buNone/>
            </a:pPr>
            <a:r>
              <a:rPr lang="en-US" sz="5400" dirty="0">
                <a:solidFill>
                  <a:srgbClr val="000000"/>
                </a:solidFill>
              </a:rPr>
              <a:t>🏆</a:t>
            </a:r>
            <a:endParaRPr lang="en-US" sz="5400" dirty="0"/>
          </a:p>
        </p:txBody>
      </p:sp>
      <p:sp>
        <p:nvSpPr>
          <p:cNvPr id="20" name="Text 18"/>
          <p:cNvSpPr/>
          <p:nvPr/>
        </p:nvSpPr>
        <p:spPr>
          <a:xfrm>
            <a:off x="2907792" y="2880360"/>
            <a:ext cx="1901952" cy="548640"/>
          </a:xfrm>
          <a:prstGeom prst="rect">
            <a:avLst/>
          </a:prstGeom>
          <a:noFill/>
          <a:ln/>
        </p:spPr>
        <p:txBody>
          <a:bodyPr wrap="square" rtlCol="0" anchor="ctr"/>
          <a:lstStyle/>
          <a:p>
            <a:pPr marL="0" indent="0" algn="ctr">
              <a:buNone/>
            </a:pPr>
            <a:r>
              <a:rPr lang="en-US" sz="1400" b="1" dirty="0">
                <a:solidFill>
                  <a:srgbClr val="F28C28"/>
                </a:solidFill>
                <a:latin typeface="Calibri" pitchFamily="34" charset="0"/>
                <a:ea typeface="Calibri" pitchFamily="34" charset="-122"/>
                <a:cs typeface="Calibri" pitchFamily="34" charset="-120"/>
              </a:rPr>
              <a:t>Sports Drives</a:t>
            </a:r>
            <a:endParaRPr lang="en-US" sz="1400" dirty="0"/>
          </a:p>
        </p:txBody>
      </p:sp>
      <p:sp>
        <p:nvSpPr>
          <p:cNvPr id="21" name="Shape 19"/>
          <p:cNvSpPr/>
          <p:nvPr/>
        </p:nvSpPr>
        <p:spPr>
          <a:xfrm>
            <a:off x="3227832" y="3474720"/>
            <a:ext cx="1261872" cy="0"/>
          </a:xfrm>
          <a:prstGeom prst="line">
            <a:avLst/>
          </a:prstGeom>
          <a:noFill/>
          <a:ln w="9525">
            <a:solidFill>
              <a:srgbClr val="0057FF"/>
            </a:solidFill>
            <a:prstDash val="solid"/>
          </a:ln>
        </p:spPr>
      </p:sp>
      <p:sp>
        <p:nvSpPr>
          <p:cNvPr id="22" name="Text 20"/>
          <p:cNvSpPr/>
          <p:nvPr/>
        </p:nvSpPr>
        <p:spPr>
          <a:xfrm>
            <a:off x="2953512" y="3611880"/>
            <a:ext cx="1810512" cy="17373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Cricket &amp; SuperSport = biggest engagement driver.</a:t>
            </a:r>
            <a:endParaRPr lang="en-US" sz="1100" dirty="0"/>
          </a:p>
        </p:txBody>
      </p:sp>
      <p:sp>
        <p:nvSpPr>
          <p:cNvPr id="23" name="Shape 21"/>
          <p:cNvSpPr/>
          <p:nvPr/>
        </p:nvSpPr>
        <p:spPr>
          <a:xfrm>
            <a:off x="5084064" y="1371600"/>
            <a:ext cx="2176272" cy="4114800"/>
          </a:xfrm>
          <a:prstGeom prst="roundRect">
            <a:avLst>
              <a:gd name="adj" fmla="val 4202"/>
            </a:avLst>
          </a:prstGeom>
          <a:solidFill>
            <a:srgbClr val="12244A"/>
          </a:solidFill>
          <a:ln w="9525">
            <a:solidFill>
              <a:srgbClr val="0057FF">
                <a:alpha val="40000"/>
              </a:srgbClr>
            </a:solidFill>
            <a:prstDash val="solid"/>
          </a:ln>
        </p:spPr>
      </p:sp>
      <p:sp>
        <p:nvSpPr>
          <p:cNvPr id="24" name="Shape 22"/>
          <p:cNvSpPr/>
          <p:nvPr/>
        </p:nvSpPr>
        <p:spPr>
          <a:xfrm>
            <a:off x="5084064" y="1371600"/>
            <a:ext cx="2176272" cy="137160"/>
          </a:xfrm>
          <a:prstGeom prst="rect">
            <a:avLst/>
          </a:prstGeom>
          <a:solidFill>
            <a:srgbClr val="F28C28"/>
          </a:solidFill>
          <a:ln w="12700">
            <a:solidFill>
              <a:srgbClr val="F28C28"/>
            </a:solidFill>
            <a:prstDash val="solid"/>
          </a:ln>
        </p:spPr>
      </p:sp>
      <p:sp>
        <p:nvSpPr>
          <p:cNvPr id="25" name="Text 23"/>
          <p:cNvSpPr/>
          <p:nvPr/>
        </p:nvSpPr>
        <p:spPr>
          <a:xfrm>
            <a:off x="5084064" y="1691640"/>
            <a:ext cx="2176272" cy="1097280"/>
          </a:xfrm>
          <a:prstGeom prst="rect">
            <a:avLst/>
          </a:prstGeom>
          <a:noFill/>
          <a:ln/>
        </p:spPr>
        <p:txBody>
          <a:bodyPr wrap="square" rtlCol="0" anchor="ctr"/>
          <a:lstStyle/>
          <a:p>
            <a:pPr marL="0" indent="0" algn="ctr">
              <a:buNone/>
            </a:pPr>
            <a:r>
              <a:rPr lang="en-US" sz="5400" dirty="0">
                <a:solidFill>
                  <a:srgbClr val="000000"/>
                </a:solidFill>
              </a:rPr>
              <a:t>🧑‍🎓</a:t>
            </a:r>
            <a:endParaRPr lang="en-US" sz="5400" dirty="0"/>
          </a:p>
        </p:txBody>
      </p:sp>
      <p:sp>
        <p:nvSpPr>
          <p:cNvPr id="26" name="Text 24"/>
          <p:cNvSpPr/>
          <p:nvPr/>
        </p:nvSpPr>
        <p:spPr>
          <a:xfrm>
            <a:off x="5221224" y="2880360"/>
            <a:ext cx="1901952" cy="548640"/>
          </a:xfrm>
          <a:prstGeom prst="rect">
            <a:avLst/>
          </a:prstGeom>
          <a:noFill/>
          <a:ln/>
        </p:spPr>
        <p:txBody>
          <a:bodyPr wrap="square" rtlCol="0" anchor="ctr"/>
          <a:lstStyle/>
          <a:p>
            <a:pPr marL="0" indent="0" algn="ctr">
              <a:buNone/>
            </a:pPr>
            <a:r>
              <a:rPr lang="en-US" sz="1400" b="1" dirty="0">
                <a:solidFill>
                  <a:srgbClr val="F28C28"/>
                </a:solidFill>
                <a:latin typeface="Calibri" pitchFamily="34" charset="0"/>
                <a:ea typeface="Calibri" pitchFamily="34" charset="-122"/>
                <a:cs typeface="Calibri" pitchFamily="34" charset="-120"/>
              </a:rPr>
              <a:t>Youth Core</a:t>
            </a:r>
            <a:endParaRPr lang="en-US" sz="1400" dirty="0"/>
          </a:p>
        </p:txBody>
      </p:sp>
      <p:sp>
        <p:nvSpPr>
          <p:cNvPr id="27" name="Shape 25"/>
          <p:cNvSpPr/>
          <p:nvPr/>
        </p:nvSpPr>
        <p:spPr>
          <a:xfrm>
            <a:off x="5541264" y="3474720"/>
            <a:ext cx="1261872" cy="0"/>
          </a:xfrm>
          <a:prstGeom prst="line">
            <a:avLst/>
          </a:prstGeom>
          <a:noFill/>
          <a:ln w="9525">
            <a:solidFill>
              <a:srgbClr val="0057FF"/>
            </a:solidFill>
            <a:prstDash val="solid"/>
          </a:ln>
        </p:spPr>
      </p:sp>
      <p:sp>
        <p:nvSpPr>
          <p:cNvPr id="28" name="Text 26"/>
          <p:cNvSpPr/>
          <p:nvPr/>
        </p:nvSpPr>
        <p:spPr>
          <a:xfrm>
            <a:off x="5266944" y="3611880"/>
            <a:ext cx="1810512" cy="17373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42% of audience — the platform's centre of gravity.</a:t>
            </a:r>
            <a:endParaRPr lang="en-US" sz="1100" dirty="0"/>
          </a:p>
        </p:txBody>
      </p:sp>
      <p:sp>
        <p:nvSpPr>
          <p:cNvPr id="29" name="Shape 27"/>
          <p:cNvSpPr/>
          <p:nvPr/>
        </p:nvSpPr>
        <p:spPr>
          <a:xfrm>
            <a:off x="7397496" y="1371600"/>
            <a:ext cx="2176272" cy="4114800"/>
          </a:xfrm>
          <a:prstGeom prst="roundRect">
            <a:avLst>
              <a:gd name="adj" fmla="val 4202"/>
            </a:avLst>
          </a:prstGeom>
          <a:solidFill>
            <a:srgbClr val="12244A"/>
          </a:solidFill>
          <a:ln w="9525">
            <a:solidFill>
              <a:srgbClr val="0057FF">
                <a:alpha val="40000"/>
              </a:srgbClr>
            </a:solidFill>
            <a:prstDash val="solid"/>
          </a:ln>
        </p:spPr>
      </p:sp>
      <p:sp>
        <p:nvSpPr>
          <p:cNvPr id="30" name="Shape 28"/>
          <p:cNvSpPr/>
          <p:nvPr/>
        </p:nvSpPr>
        <p:spPr>
          <a:xfrm>
            <a:off x="7397496" y="1371600"/>
            <a:ext cx="2176272" cy="137160"/>
          </a:xfrm>
          <a:prstGeom prst="rect">
            <a:avLst/>
          </a:prstGeom>
          <a:solidFill>
            <a:srgbClr val="F28C28"/>
          </a:solidFill>
          <a:ln w="12700">
            <a:solidFill>
              <a:srgbClr val="F28C28"/>
            </a:solidFill>
            <a:prstDash val="solid"/>
          </a:ln>
        </p:spPr>
      </p:sp>
      <p:sp>
        <p:nvSpPr>
          <p:cNvPr id="31" name="Text 29"/>
          <p:cNvSpPr/>
          <p:nvPr/>
        </p:nvSpPr>
        <p:spPr>
          <a:xfrm>
            <a:off x="7397496" y="1691640"/>
            <a:ext cx="2176272" cy="1097280"/>
          </a:xfrm>
          <a:prstGeom prst="rect">
            <a:avLst/>
          </a:prstGeom>
          <a:noFill/>
          <a:ln/>
        </p:spPr>
        <p:txBody>
          <a:bodyPr wrap="square" rtlCol="0" anchor="ctr"/>
          <a:lstStyle/>
          <a:p>
            <a:pPr marL="0" indent="0" algn="ctr">
              <a:buNone/>
            </a:pPr>
            <a:r>
              <a:rPr lang="en-US" sz="5400" dirty="0">
                <a:solidFill>
                  <a:srgbClr val="000000"/>
                </a:solidFill>
              </a:rPr>
              <a:t>📍</a:t>
            </a:r>
            <a:endParaRPr lang="en-US" sz="5400" dirty="0"/>
          </a:p>
        </p:txBody>
      </p:sp>
      <p:sp>
        <p:nvSpPr>
          <p:cNvPr id="32" name="Text 30"/>
          <p:cNvSpPr/>
          <p:nvPr/>
        </p:nvSpPr>
        <p:spPr>
          <a:xfrm>
            <a:off x="7534656" y="2880360"/>
            <a:ext cx="1901952" cy="548640"/>
          </a:xfrm>
          <a:prstGeom prst="rect">
            <a:avLst/>
          </a:prstGeom>
          <a:noFill/>
          <a:ln/>
        </p:spPr>
        <p:txBody>
          <a:bodyPr wrap="square" rtlCol="0" anchor="ctr"/>
          <a:lstStyle/>
          <a:p>
            <a:pPr marL="0" indent="0" algn="ctr">
              <a:buNone/>
            </a:pPr>
            <a:r>
              <a:rPr lang="en-US" sz="1400" b="1" dirty="0">
                <a:solidFill>
                  <a:srgbClr val="F28C28"/>
                </a:solidFill>
                <a:latin typeface="Calibri" pitchFamily="34" charset="0"/>
                <a:ea typeface="Calibri" pitchFamily="34" charset="-122"/>
                <a:cs typeface="Calibri" pitchFamily="34" charset="-120"/>
              </a:rPr>
              <a:t>Gauteng #1</a:t>
            </a:r>
            <a:endParaRPr lang="en-US" sz="1400" dirty="0"/>
          </a:p>
        </p:txBody>
      </p:sp>
      <p:sp>
        <p:nvSpPr>
          <p:cNvPr id="33" name="Shape 31"/>
          <p:cNvSpPr/>
          <p:nvPr/>
        </p:nvSpPr>
        <p:spPr>
          <a:xfrm>
            <a:off x="7854696" y="3474720"/>
            <a:ext cx="1261872" cy="0"/>
          </a:xfrm>
          <a:prstGeom prst="line">
            <a:avLst/>
          </a:prstGeom>
          <a:noFill/>
          <a:ln w="9525">
            <a:solidFill>
              <a:srgbClr val="0057FF"/>
            </a:solidFill>
            <a:prstDash val="solid"/>
          </a:ln>
        </p:spPr>
      </p:sp>
      <p:sp>
        <p:nvSpPr>
          <p:cNvPr id="34" name="Text 32"/>
          <p:cNvSpPr/>
          <p:nvPr/>
        </p:nvSpPr>
        <p:spPr>
          <a:xfrm>
            <a:off x="7580376" y="3611880"/>
            <a:ext cx="1810512" cy="17373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Largest province by far — anchor market.</a:t>
            </a:r>
            <a:endParaRPr lang="en-US" sz="1100" dirty="0"/>
          </a:p>
        </p:txBody>
      </p:sp>
      <p:sp>
        <p:nvSpPr>
          <p:cNvPr id="35" name="Shape 33"/>
          <p:cNvSpPr/>
          <p:nvPr/>
        </p:nvSpPr>
        <p:spPr>
          <a:xfrm>
            <a:off x="9710928" y="1371600"/>
            <a:ext cx="2176272" cy="4114800"/>
          </a:xfrm>
          <a:prstGeom prst="roundRect">
            <a:avLst>
              <a:gd name="adj" fmla="val 4202"/>
            </a:avLst>
          </a:prstGeom>
          <a:solidFill>
            <a:srgbClr val="12244A"/>
          </a:solidFill>
          <a:ln w="9525">
            <a:solidFill>
              <a:srgbClr val="0057FF">
                <a:alpha val="40000"/>
              </a:srgbClr>
            </a:solidFill>
            <a:prstDash val="solid"/>
          </a:ln>
        </p:spPr>
      </p:sp>
      <p:sp>
        <p:nvSpPr>
          <p:cNvPr id="36" name="Shape 34"/>
          <p:cNvSpPr/>
          <p:nvPr/>
        </p:nvSpPr>
        <p:spPr>
          <a:xfrm>
            <a:off x="9710928" y="1371600"/>
            <a:ext cx="2176272" cy="137160"/>
          </a:xfrm>
          <a:prstGeom prst="rect">
            <a:avLst/>
          </a:prstGeom>
          <a:solidFill>
            <a:srgbClr val="F28C28"/>
          </a:solidFill>
          <a:ln w="12700">
            <a:solidFill>
              <a:srgbClr val="F28C28"/>
            </a:solidFill>
            <a:prstDash val="solid"/>
          </a:ln>
        </p:spPr>
      </p:sp>
      <p:sp>
        <p:nvSpPr>
          <p:cNvPr id="37" name="Text 35"/>
          <p:cNvSpPr/>
          <p:nvPr/>
        </p:nvSpPr>
        <p:spPr>
          <a:xfrm>
            <a:off x="9710928" y="1691640"/>
            <a:ext cx="2176272" cy="1097280"/>
          </a:xfrm>
          <a:prstGeom prst="rect">
            <a:avLst/>
          </a:prstGeom>
          <a:noFill/>
          <a:ln/>
        </p:spPr>
        <p:txBody>
          <a:bodyPr wrap="square" rtlCol="0" anchor="ctr"/>
          <a:lstStyle/>
          <a:p>
            <a:pPr marL="0" indent="0" algn="ctr">
              <a:buNone/>
            </a:pPr>
            <a:r>
              <a:rPr lang="en-US" sz="5400" dirty="0">
                <a:solidFill>
                  <a:srgbClr val="000000"/>
                </a:solidFill>
              </a:rPr>
              <a:t>🎯</a:t>
            </a:r>
            <a:endParaRPr lang="en-US" sz="5400" dirty="0"/>
          </a:p>
        </p:txBody>
      </p:sp>
      <p:sp>
        <p:nvSpPr>
          <p:cNvPr id="38" name="Text 36"/>
          <p:cNvSpPr/>
          <p:nvPr/>
        </p:nvSpPr>
        <p:spPr>
          <a:xfrm>
            <a:off x="9848088" y="2880360"/>
            <a:ext cx="1901952" cy="548640"/>
          </a:xfrm>
          <a:prstGeom prst="rect">
            <a:avLst/>
          </a:prstGeom>
          <a:noFill/>
          <a:ln/>
        </p:spPr>
        <p:txBody>
          <a:bodyPr wrap="square" rtlCol="0" anchor="ctr"/>
          <a:lstStyle/>
          <a:p>
            <a:pPr marL="0" indent="0" algn="ctr">
              <a:buNone/>
            </a:pPr>
            <a:r>
              <a:rPr lang="en-US" sz="1400" b="1" dirty="0">
                <a:solidFill>
                  <a:srgbClr val="F28C28"/>
                </a:solidFill>
                <a:latin typeface="Calibri" pitchFamily="34" charset="0"/>
                <a:ea typeface="Calibri" pitchFamily="34" charset="-122"/>
                <a:cs typeface="Calibri" pitchFamily="34" charset="-120"/>
              </a:rPr>
              <a:t>Growth Segments</a:t>
            </a:r>
            <a:endParaRPr lang="en-US" sz="1400" dirty="0"/>
          </a:p>
        </p:txBody>
      </p:sp>
      <p:sp>
        <p:nvSpPr>
          <p:cNvPr id="39" name="Shape 37"/>
          <p:cNvSpPr/>
          <p:nvPr/>
        </p:nvSpPr>
        <p:spPr>
          <a:xfrm>
            <a:off x="10168128" y="3474720"/>
            <a:ext cx="1261872" cy="0"/>
          </a:xfrm>
          <a:prstGeom prst="line">
            <a:avLst/>
          </a:prstGeom>
          <a:noFill/>
          <a:ln w="9525">
            <a:solidFill>
              <a:srgbClr val="0057FF"/>
            </a:solidFill>
            <a:prstDash val="solid"/>
          </a:ln>
        </p:spPr>
      </p:sp>
      <p:sp>
        <p:nvSpPr>
          <p:cNvPr id="40" name="Text 38"/>
          <p:cNvSpPr/>
          <p:nvPr/>
        </p:nvSpPr>
        <p:spPr>
          <a:xfrm>
            <a:off x="9893808" y="3611880"/>
            <a:ext cx="1810512" cy="17373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Female, Kids &amp; Pensioners — biggest upside.</a:t>
            </a:r>
            <a:endParaRPr lang="en-US" sz="1100" dirty="0"/>
          </a:p>
        </p:txBody>
      </p:sp>
      <p:sp>
        <p:nvSpPr>
          <p:cNvPr id="41" name="Shape 39"/>
          <p:cNvSpPr/>
          <p:nvPr/>
        </p:nvSpPr>
        <p:spPr>
          <a:xfrm>
            <a:off x="457200" y="5623560"/>
            <a:ext cx="11274552" cy="640080"/>
          </a:xfrm>
          <a:prstGeom prst="roundRect">
            <a:avLst>
              <a:gd name="adj" fmla="val 11429"/>
            </a:avLst>
          </a:prstGeom>
          <a:solidFill>
            <a:srgbClr val="F28C28"/>
          </a:solidFill>
          <a:ln w="12700">
            <a:solidFill>
              <a:srgbClr val="F28C28"/>
            </a:solidFill>
            <a:prstDash val="solid"/>
          </a:ln>
        </p:spPr>
      </p:sp>
      <p:sp>
        <p:nvSpPr>
          <p:cNvPr id="42" name="Text 40"/>
          <p:cNvSpPr/>
          <p:nvPr/>
        </p:nvSpPr>
        <p:spPr>
          <a:xfrm>
            <a:off x="685800" y="5696712"/>
            <a:ext cx="1828800" cy="228600"/>
          </a:xfrm>
          <a:prstGeom prst="rect">
            <a:avLst/>
          </a:prstGeom>
          <a:noFill/>
          <a:ln/>
        </p:spPr>
        <p:txBody>
          <a:bodyPr wrap="square" rtlCol="0" anchor="ctr"/>
          <a:lstStyle/>
          <a:p>
            <a:pPr marL="0" indent="0">
              <a:buNone/>
            </a:pPr>
            <a:r>
              <a:rPr lang="en-US" sz="1000" b="1" kern="0" spc="300" dirty="0">
                <a:solidFill>
                  <a:srgbClr val="081B3A"/>
                </a:solidFill>
                <a:latin typeface="Calibri" pitchFamily="34" charset="0"/>
                <a:ea typeface="Calibri" pitchFamily="34" charset="-122"/>
                <a:cs typeface="Calibri" pitchFamily="34" charset="-120"/>
              </a:rPr>
              <a:t>KEY TAKEAWAY</a:t>
            </a:r>
            <a:endParaRPr lang="en-US" sz="1000" dirty="0"/>
          </a:p>
        </p:txBody>
      </p:sp>
      <p:sp>
        <p:nvSpPr>
          <p:cNvPr id="43" name="Text 41"/>
          <p:cNvSpPr/>
          <p:nvPr/>
        </p:nvSpPr>
        <p:spPr>
          <a:xfrm>
            <a:off x="685800" y="5897880"/>
            <a:ext cx="10789920" cy="365760"/>
          </a:xfrm>
          <a:prstGeom prst="rect">
            <a:avLst/>
          </a:prstGeom>
          <a:noFill/>
          <a:ln/>
        </p:spPr>
        <p:txBody>
          <a:bodyPr wrap="square" rtlCol="0" anchor="ctr"/>
          <a:lstStyle/>
          <a:p>
            <a:pPr marL="0" indent="0">
              <a:buNone/>
            </a:pPr>
            <a:r>
              <a:rPr lang="en-US" sz="1200" b="1" dirty="0">
                <a:solidFill>
                  <a:srgbClr val="081B3A"/>
                </a:solidFill>
                <a:latin typeface="Calibri" pitchFamily="34" charset="0"/>
                <a:ea typeface="Calibri" pitchFamily="34" charset="-122"/>
                <a:cs typeface="Calibri" pitchFamily="34" charset="-120"/>
              </a:rPr>
              <a:t>Grow with sports &amp; March momentum. Close gaps in female, kids and pensioner segments to expand the base.</a:t>
            </a:r>
            <a:endParaRPr lang="en-US" sz="1200" dirty="0"/>
          </a:p>
        </p:txBody>
      </p:sp>
      <p:sp>
        <p:nvSpPr>
          <p:cNvPr id="44" name="Shape 42"/>
          <p:cNvSpPr/>
          <p:nvPr/>
        </p:nvSpPr>
        <p:spPr>
          <a:xfrm>
            <a:off x="457200" y="6446520"/>
            <a:ext cx="11274552" cy="0"/>
          </a:xfrm>
          <a:prstGeom prst="line">
            <a:avLst/>
          </a:prstGeom>
          <a:noFill/>
          <a:ln w="9525">
            <a:solidFill>
              <a:srgbClr val="0057FF">
                <a:alpha val="60000"/>
              </a:srgbClr>
            </a:solidFill>
            <a:prstDash val="solid"/>
          </a:ln>
        </p:spPr>
      </p:sp>
      <p:sp>
        <p:nvSpPr>
          <p:cNvPr id="45" name="Text 43"/>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9AA6BF"/>
                </a:solidFill>
                <a:latin typeface="Calibri" pitchFamily="34" charset="0"/>
                <a:ea typeface="Calibri" pitchFamily="34" charset="-122"/>
                <a:cs typeface="Calibri" pitchFamily="34" charset="-120"/>
              </a:rPr>
              <a:t>Bright TV Viewership Analysis  |  CVM Insights</a:t>
            </a:r>
            <a:endParaRPr lang="en-US" sz="900" dirty="0"/>
          </a:p>
        </p:txBody>
      </p:sp>
      <p:sp>
        <p:nvSpPr>
          <p:cNvPr id="46" name="Text 44"/>
          <p:cNvSpPr/>
          <p:nvPr/>
        </p:nvSpPr>
        <p:spPr>
          <a:xfrm>
            <a:off x="10515600" y="6492240"/>
            <a:ext cx="1216152" cy="274320"/>
          </a:xfrm>
          <a:prstGeom prst="rect">
            <a:avLst/>
          </a:prstGeom>
          <a:noFill/>
          <a:ln/>
        </p:spPr>
        <p:txBody>
          <a:bodyPr wrap="square" rtlCol="0" anchor="ctr"/>
          <a:lstStyle/>
          <a:p>
            <a:pPr marL="0" indent="0" algn="r">
              <a:buNone/>
            </a:pPr>
            <a:r>
              <a:rPr lang="en-US" sz="900" b="1" dirty="0">
                <a:solidFill>
                  <a:srgbClr val="9AA6BF"/>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B3A"/>
        </a:solidFill>
        <a:effectLst/>
      </p:bgPr>
    </p:bg>
    <p:spTree>
      <p:nvGrpSpPr>
        <p:cNvPr id="1" name=""/>
        <p:cNvGrpSpPr/>
        <p:nvPr/>
      </p:nvGrpSpPr>
      <p:grpSpPr>
        <a:xfrm>
          <a:off x="0" y="0"/>
          <a:ext cx="0" cy="0"/>
          <a:chOff x="0" y="0"/>
          <a:chExt cx="0" cy="0"/>
        </a:xfrm>
      </p:grpSpPr>
      <p:sp>
        <p:nvSpPr>
          <p:cNvPr id="2" name="Shape 0"/>
          <p:cNvSpPr/>
          <p:nvPr/>
        </p:nvSpPr>
        <p:spPr>
          <a:xfrm>
            <a:off x="-2743200" y="-2743200"/>
            <a:ext cx="9144000" cy="9144000"/>
          </a:xfrm>
          <a:prstGeom prst="ellipse">
            <a:avLst/>
          </a:prstGeom>
          <a:solidFill>
            <a:srgbClr val="0057FF">
              <a:alpha val="25000"/>
            </a:srgbClr>
          </a:solidFill>
          <a:ln w="12700">
            <a:solidFill>
              <a:srgbClr val="0057FF">
                <a:alpha val="0"/>
              </a:srgbClr>
            </a:solidFill>
            <a:prstDash val="solid"/>
          </a:ln>
        </p:spPr>
      </p:sp>
      <p:sp>
        <p:nvSpPr>
          <p:cNvPr id="3" name="Shape 1"/>
          <p:cNvSpPr/>
          <p:nvPr/>
        </p:nvSpPr>
        <p:spPr>
          <a:xfrm>
            <a:off x="7315200" y="2743200"/>
            <a:ext cx="7315200" cy="7315200"/>
          </a:xfrm>
          <a:prstGeom prst="ellipse">
            <a:avLst/>
          </a:prstGeom>
          <a:solidFill>
            <a:srgbClr val="F28C28">
              <a:alpha val="15000"/>
            </a:srgbClr>
          </a:solidFill>
          <a:ln w="12700">
            <a:solidFill>
              <a:srgbClr val="F28C28">
                <a:alpha val="0"/>
              </a:srgbClr>
            </a:solidFill>
            <a:prstDash val="solid"/>
          </a:ln>
        </p:spPr>
      </p:sp>
      <p:sp>
        <p:nvSpPr>
          <p:cNvPr id="4" name="Shape 2"/>
          <p:cNvSpPr/>
          <p:nvPr/>
        </p:nvSpPr>
        <p:spPr>
          <a:xfrm>
            <a:off x="0" y="0"/>
            <a:ext cx="12188952" cy="137160"/>
          </a:xfrm>
          <a:prstGeom prst="rect">
            <a:avLst/>
          </a:prstGeom>
          <a:solidFill>
            <a:srgbClr val="F28C28"/>
          </a:solidFill>
          <a:ln w="12700">
            <a:solidFill>
              <a:srgbClr val="F28C28"/>
            </a:solidFill>
            <a:prstDash val="solid"/>
          </a:ln>
        </p:spPr>
      </p:sp>
      <p:sp>
        <p:nvSpPr>
          <p:cNvPr id="5" name="Text 3"/>
          <p:cNvSpPr/>
          <p:nvPr/>
        </p:nvSpPr>
        <p:spPr>
          <a:xfrm>
            <a:off x="5029200" y="1371600"/>
            <a:ext cx="2103120" cy="1645920"/>
          </a:xfrm>
          <a:prstGeom prst="rect">
            <a:avLst/>
          </a:prstGeom>
          <a:noFill/>
          <a:ln/>
        </p:spPr>
        <p:txBody>
          <a:bodyPr wrap="square" rtlCol="0" anchor="ctr"/>
          <a:lstStyle/>
          <a:p>
            <a:pPr marL="0" indent="0" algn="ctr">
              <a:buNone/>
            </a:pPr>
            <a:r>
              <a:rPr lang="en-US" sz="11000" b="1" dirty="0">
                <a:solidFill>
                  <a:srgbClr val="F28C28"/>
                </a:solidFill>
              </a:rPr>
              <a:t>▶</a:t>
            </a:r>
            <a:endParaRPr lang="en-US" sz="11000" dirty="0"/>
          </a:p>
        </p:txBody>
      </p:sp>
      <p:sp>
        <p:nvSpPr>
          <p:cNvPr id="6" name="Text 4"/>
          <p:cNvSpPr/>
          <p:nvPr/>
        </p:nvSpPr>
        <p:spPr>
          <a:xfrm>
            <a:off x="457200" y="3108960"/>
            <a:ext cx="11274552" cy="1280160"/>
          </a:xfrm>
          <a:prstGeom prst="rect">
            <a:avLst/>
          </a:prstGeom>
          <a:noFill/>
          <a:ln/>
        </p:spPr>
        <p:txBody>
          <a:bodyPr wrap="square" rtlCol="0" anchor="ctr"/>
          <a:lstStyle/>
          <a:p>
            <a:pPr marL="0" indent="0" algn="ctr">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7" name="Shape 5"/>
          <p:cNvSpPr/>
          <p:nvPr/>
        </p:nvSpPr>
        <p:spPr>
          <a:xfrm>
            <a:off x="5632704" y="4434840"/>
            <a:ext cx="914400" cy="54864"/>
          </a:xfrm>
          <a:prstGeom prst="rect">
            <a:avLst/>
          </a:prstGeom>
          <a:solidFill>
            <a:srgbClr val="F28C28"/>
          </a:solidFill>
          <a:ln w="12700">
            <a:solidFill>
              <a:srgbClr val="F28C28"/>
            </a:solidFill>
            <a:prstDash val="solid"/>
          </a:ln>
        </p:spPr>
      </p:sp>
      <p:sp>
        <p:nvSpPr>
          <p:cNvPr id="8" name="Text 6"/>
          <p:cNvSpPr/>
          <p:nvPr/>
        </p:nvSpPr>
        <p:spPr>
          <a:xfrm>
            <a:off x="457200" y="4572000"/>
            <a:ext cx="11274552" cy="457200"/>
          </a:xfrm>
          <a:prstGeom prst="rect">
            <a:avLst/>
          </a:prstGeom>
          <a:noFill/>
          <a:ln/>
        </p:spPr>
        <p:txBody>
          <a:bodyPr wrap="square" rtlCol="0" anchor="ctr"/>
          <a:lstStyle/>
          <a:p>
            <a:pPr marL="0" indent="0" algn="ctr">
              <a:buNone/>
            </a:pPr>
            <a:r>
              <a:rPr lang="en-US" sz="2000" i="1" dirty="0">
                <a:solidFill>
                  <a:srgbClr val="EAEAEA"/>
                </a:solidFill>
                <a:latin typeface="Calibri" pitchFamily="34" charset="0"/>
                <a:ea typeface="Calibri" pitchFamily="34" charset="-122"/>
                <a:cs typeface="Calibri" pitchFamily="34" charset="-120"/>
              </a:rPr>
              <a:t>Questions &amp; Discussion</a:t>
            </a:r>
            <a:endParaRPr lang="en-US" sz="2000" dirty="0"/>
          </a:p>
        </p:txBody>
      </p:sp>
      <p:sp>
        <p:nvSpPr>
          <p:cNvPr id="9" name="Text 7"/>
          <p:cNvSpPr/>
          <p:nvPr/>
        </p:nvSpPr>
        <p:spPr>
          <a:xfrm>
            <a:off x="457200" y="6126480"/>
            <a:ext cx="11274552" cy="365760"/>
          </a:xfrm>
          <a:prstGeom prst="rect">
            <a:avLst/>
          </a:prstGeom>
          <a:noFill/>
          <a:ln/>
        </p:spPr>
        <p:txBody>
          <a:bodyPr wrap="square" rtlCol="0" anchor="ctr"/>
          <a:lstStyle/>
          <a:p>
            <a:pPr marL="0" indent="0" algn="ctr">
              <a:buNone/>
            </a:pPr>
            <a:r>
              <a:rPr lang="en-US" sz="1200" kern="0" spc="600" dirty="0">
                <a:solidFill>
                  <a:srgbClr val="9AA6BF"/>
                </a:solidFill>
                <a:latin typeface="Calibri" pitchFamily="34" charset="0"/>
                <a:ea typeface="Calibri" pitchFamily="34" charset="-122"/>
                <a:cs typeface="Calibri" pitchFamily="34" charset="-120"/>
              </a:rPr>
              <a:t>BRIGHT TV  ·  CVM ANALYTICS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1167</Words>
  <Application>Microsoft Office PowerPoint</Application>
  <PresentationFormat>Widescreen</PresentationFormat>
  <Paragraphs>254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TV Viewership Analysis</dc:title>
  <dc:subject>PptxGenJS Presentation</dc:subject>
  <dc:creator>CVM Analytics</dc:creator>
  <cp:lastModifiedBy>jabu Ndlangamandla</cp:lastModifiedBy>
  <cp:revision>1</cp:revision>
  <dcterms:created xsi:type="dcterms:W3CDTF">2026-07-19T11:54:29Z</dcterms:created>
  <dcterms:modified xsi:type="dcterms:W3CDTF">2026-08-02T19:16:02Z</dcterms:modified>
</cp:coreProperties>
</file>